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tags/tag31.xml" ContentType="application/vnd.openxmlformats-officedocument.presentationml.tags+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C4DA11-6D7E-4B4B-8579-D15D10CB030D}" v="46" dt="2024-06-19T14:09:30.2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8" d="100"/>
          <a:sy n="108" d="100"/>
        </p:scale>
        <p:origin x="65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tags" Target="tags/tag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rwin Sacki" userId="7dbf0681-cca9-41a0-a203-d2607eae42c9" providerId="ADAL" clId="{25C4DA11-6D7E-4B4B-8579-D15D10CB030D}"/>
    <pc:docChg chg="custSel modSld replTag">
      <pc:chgData name="Sherwin Sacki" userId="7dbf0681-cca9-41a0-a203-d2607eae42c9" providerId="ADAL" clId="{25C4DA11-6D7E-4B4B-8579-D15D10CB030D}" dt="2024-06-19T14:10:41.753" v="528" actId="122"/>
      <pc:docMkLst>
        <pc:docMk/>
      </pc:docMkLst>
      <pc:sldChg chg="addSp modSp mod">
        <pc:chgData name="Sherwin Sacki" userId="7dbf0681-cca9-41a0-a203-d2607eae42c9" providerId="ADAL" clId="{25C4DA11-6D7E-4B4B-8579-D15D10CB030D}" dt="2024-06-19T09:23:11.193" v="364" actId="14100"/>
        <pc:sldMkLst>
          <pc:docMk/>
          <pc:sldMk cId="99995024" sldId="258"/>
        </pc:sldMkLst>
        <pc:spChg chg="add mod">
          <ac:chgData name="Sherwin Sacki" userId="7dbf0681-cca9-41a0-a203-d2607eae42c9" providerId="ADAL" clId="{25C4DA11-6D7E-4B4B-8579-D15D10CB030D}" dt="2024-06-19T09:23:11.193" v="364" actId="14100"/>
          <ac:spMkLst>
            <pc:docMk/>
            <pc:sldMk cId="99995024" sldId="258"/>
            <ac:spMk id="6" creationId="{14615448-8F5D-D5BF-3BB1-F0E93BA9906A}"/>
          </ac:spMkLst>
        </pc:spChg>
      </pc:sldChg>
      <pc:sldChg chg="addSp delSp modSp mod">
        <pc:chgData name="Sherwin Sacki" userId="7dbf0681-cca9-41a0-a203-d2607eae42c9" providerId="ADAL" clId="{25C4DA11-6D7E-4B4B-8579-D15D10CB030D}" dt="2024-06-19T14:10:41.753" v="528" actId="122"/>
        <pc:sldMkLst>
          <pc:docMk/>
          <pc:sldMk cId="1582593477" sldId="259"/>
        </pc:sldMkLst>
        <pc:spChg chg="add del mod modVis">
          <ac:chgData name="Sherwin Sacki" userId="7dbf0681-cca9-41a0-a203-d2607eae42c9" providerId="ADAL" clId="{25C4DA11-6D7E-4B4B-8579-D15D10CB030D}" dt="2024-06-19T14:08:20.548" v="428"/>
          <ac:spMkLst>
            <pc:docMk/>
            <pc:sldMk cId="1582593477" sldId="259"/>
            <ac:spMk id="2" creationId="{74497FCC-B08A-C76B-1543-3EA38F0E7D06}"/>
          </ac:spMkLst>
        </pc:spChg>
        <pc:spChg chg="add del mod modVis">
          <ac:chgData name="Sherwin Sacki" userId="7dbf0681-cca9-41a0-a203-d2607eae42c9" providerId="ADAL" clId="{25C4DA11-6D7E-4B4B-8579-D15D10CB030D}" dt="2024-06-19T07:53:53.215" v="54"/>
          <ac:spMkLst>
            <pc:docMk/>
            <pc:sldMk cId="1582593477" sldId="259"/>
            <ac:spMk id="2" creationId="{BEABE834-1752-EC98-9448-E3116F9F6851}"/>
          </ac:spMkLst>
        </pc:spChg>
        <pc:spChg chg="add mod">
          <ac:chgData name="Sherwin Sacki" userId="7dbf0681-cca9-41a0-a203-d2607eae42c9" providerId="ADAL" clId="{25C4DA11-6D7E-4B4B-8579-D15D10CB030D}" dt="2024-06-19T09:07:04.773" v="126" actId="1076"/>
          <ac:spMkLst>
            <pc:docMk/>
            <pc:sldMk cId="1582593477" sldId="259"/>
            <ac:spMk id="3" creationId="{3394C825-5FF6-1324-B3C0-7B1D9E1ADDCB}"/>
          </ac:spMkLst>
        </pc:spChg>
        <pc:spChg chg="add mod">
          <ac:chgData name="Sherwin Sacki" userId="7dbf0681-cca9-41a0-a203-d2607eae42c9" providerId="ADAL" clId="{25C4DA11-6D7E-4B4B-8579-D15D10CB030D}" dt="2024-06-19T14:10:41.753" v="528" actId="122"/>
          <ac:spMkLst>
            <pc:docMk/>
            <pc:sldMk cId="1582593477" sldId="259"/>
            <ac:spMk id="6" creationId="{B9BEA928-7219-80F1-C203-CC3D05F670BE}"/>
          </ac:spMkLst>
        </pc:spChg>
        <pc:spChg chg="del mod">
          <ac:chgData name="Sherwin Sacki" userId="7dbf0681-cca9-41a0-a203-d2607eae42c9" providerId="ADAL" clId="{25C4DA11-6D7E-4B4B-8579-D15D10CB030D}" dt="2024-06-19T14:08:20.438" v="376"/>
          <ac:spMkLst>
            <pc:docMk/>
            <pc:sldMk cId="1582593477" sldId="259"/>
            <ac:spMk id="7" creationId="{C843B153-8428-55E0-612C-6DE40B1557EB}"/>
          </ac:spMkLst>
        </pc:spChg>
        <pc:spChg chg="del mod">
          <ac:chgData name="Sherwin Sacki" userId="7dbf0681-cca9-41a0-a203-d2607eae42c9" providerId="ADAL" clId="{25C4DA11-6D7E-4B4B-8579-D15D10CB030D}" dt="2024-06-19T14:08:20.438" v="373"/>
          <ac:spMkLst>
            <pc:docMk/>
            <pc:sldMk cId="1582593477" sldId="259"/>
            <ac:spMk id="8" creationId="{C843B153-8428-55E0-612C-6DE40B1557EB}"/>
          </ac:spMkLst>
        </pc:spChg>
        <pc:spChg chg="del mod">
          <ac:chgData name="Sherwin Sacki" userId="7dbf0681-cca9-41a0-a203-d2607eae42c9" providerId="ADAL" clId="{25C4DA11-6D7E-4B4B-8579-D15D10CB030D}" dt="2024-06-19T14:08:20.436" v="370"/>
          <ac:spMkLst>
            <pc:docMk/>
            <pc:sldMk cId="1582593477" sldId="259"/>
            <ac:spMk id="10" creationId="{C843B153-8428-55E0-612C-6DE40B1557EB}"/>
          </ac:spMkLst>
        </pc:spChg>
        <pc:spChg chg="del mod">
          <ac:chgData name="Sherwin Sacki" userId="7dbf0681-cca9-41a0-a203-d2607eae42c9" providerId="ADAL" clId="{25C4DA11-6D7E-4B4B-8579-D15D10CB030D}" dt="2024-06-19T14:08:20.435" v="367"/>
          <ac:spMkLst>
            <pc:docMk/>
            <pc:sldMk cId="1582593477" sldId="259"/>
            <ac:spMk id="11" creationId="{C843B153-8428-55E0-612C-6DE40B1557EB}"/>
          </ac:spMkLst>
        </pc:spChg>
        <pc:spChg chg="mod">
          <ac:chgData name="Sherwin Sacki" userId="7dbf0681-cca9-41a0-a203-d2607eae42c9" providerId="ADAL" clId="{25C4DA11-6D7E-4B4B-8579-D15D10CB030D}" dt="2024-06-19T14:08:30.874" v="474" actId="20577"/>
          <ac:spMkLst>
            <pc:docMk/>
            <pc:sldMk cId="1582593477" sldId="259"/>
            <ac:spMk id="13" creationId="{85282B84-AB6A-F57F-ACD7-CE1EE208A329}"/>
          </ac:spMkLst>
        </pc:spChg>
        <pc:spChg chg="del">
          <ac:chgData name="Sherwin Sacki" userId="7dbf0681-cca9-41a0-a203-d2607eae42c9" providerId="ADAL" clId="{25C4DA11-6D7E-4B4B-8579-D15D10CB030D}" dt="2024-06-19T14:08:20.438" v="375"/>
          <ac:spMkLst>
            <pc:docMk/>
            <pc:sldMk cId="1582593477" sldId="259"/>
            <ac:spMk id="18" creationId="{52234D04-B9C3-AB0E-8256-0A7DADFC9BB5}"/>
          </ac:spMkLst>
        </pc:spChg>
        <pc:spChg chg="del">
          <ac:chgData name="Sherwin Sacki" userId="7dbf0681-cca9-41a0-a203-d2607eae42c9" providerId="ADAL" clId="{25C4DA11-6D7E-4B4B-8579-D15D10CB030D}" dt="2024-06-19T14:08:20.437" v="372"/>
          <ac:spMkLst>
            <pc:docMk/>
            <pc:sldMk cId="1582593477" sldId="259"/>
            <ac:spMk id="19" creationId="{9531BAA2-5C4D-038B-E43B-B823ECAEEF59}"/>
          </ac:spMkLst>
        </pc:spChg>
        <pc:spChg chg="del">
          <ac:chgData name="Sherwin Sacki" userId="7dbf0681-cca9-41a0-a203-d2607eae42c9" providerId="ADAL" clId="{25C4DA11-6D7E-4B4B-8579-D15D10CB030D}" dt="2024-06-19T14:08:20.436" v="369"/>
          <ac:spMkLst>
            <pc:docMk/>
            <pc:sldMk cId="1582593477" sldId="259"/>
            <ac:spMk id="20" creationId="{B9540947-D6CF-78BB-E7CE-A06746AD0EDB}"/>
          </ac:spMkLst>
        </pc:spChg>
        <pc:spChg chg="del">
          <ac:chgData name="Sherwin Sacki" userId="7dbf0681-cca9-41a0-a203-d2607eae42c9" providerId="ADAL" clId="{25C4DA11-6D7E-4B4B-8579-D15D10CB030D}" dt="2024-06-19T14:08:20.435" v="366"/>
          <ac:spMkLst>
            <pc:docMk/>
            <pc:sldMk cId="1582593477" sldId="259"/>
            <ac:spMk id="21" creationId="{9F4149BF-7897-D0CE-32D3-E9E14B8C8060}"/>
          </ac:spMkLst>
        </pc:spChg>
        <pc:spChg chg="del mod">
          <ac:chgData name="Sherwin Sacki" userId="7dbf0681-cca9-41a0-a203-d2607eae42c9" providerId="ADAL" clId="{25C4DA11-6D7E-4B4B-8579-D15D10CB030D}" dt="2024-06-19T14:08:20.440" v="378"/>
          <ac:spMkLst>
            <pc:docMk/>
            <pc:sldMk cId="1582593477" sldId="259"/>
            <ac:spMk id="22" creationId="{C9E30D6A-4748-D4ED-AF98-7C4C92F67037}"/>
          </ac:spMkLst>
        </pc:spChg>
        <pc:spChg chg="del">
          <ac:chgData name="Sherwin Sacki" userId="7dbf0681-cca9-41a0-a203-d2607eae42c9" providerId="ADAL" clId="{25C4DA11-6D7E-4B4B-8579-D15D10CB030D}" dt="2024-06-19T14:08:20.438" v="377"/>
          <ac:spMkLst>
            <pc:docMk/>
            <pc:sldMk cId="1582593477" sldId="259"/>
            <ac:spMk id="25" creationId="{8FD4A8D9-899A-3530-B6D1-4E19AB3E1C62}"/>
          </ac:spMkLst>
        </pc:spChg>
        <pc:spChg chg="mod">
          <ac:chgData name="Sherwin Sacki" userId="7dbf0681-cca9-41a0-a203-d2607eae42c9" providerId="ADAL" clId="{25C4DA11-6D7E-4B4B-8579-D15D10CB030D}" dt="2024-06-19T14:08:20.470" v="381"/>
          <ac:spMkLst>
            <pc:docMk/>
            <pc:sldMk cId="1582593477" sldId="259"/>
            <ac:spMk id="29" creationId="{C843B153-8428-55E0-612C-6DE40B1557EB}"/>
          </ac:spMkLst>
        </pc:spChg>
        <pc:spChg chg="mod">
          <ac:chgData name="Sherwin Sacki" userId="7dbf0681-cca9-41a0-a203-d2607eae42c9" providerId="ADAL" clId="{25C4DA11-6D7E-4B4B-8579-D15D10CB030D}" dt="2024-06-19T14:08:20.522" v="401"/>
          <ac:spMkLst>
            <pc:docMk/>
            <pc:sldMk cId="1582593477" sldId="259"/>
            <ac:spMk id="30" creationId="{C843B153-8428-55E0-612C-6DE40B1557EB}"/>
          </ac:spMkLst>
        </pc:spChg>
        <pc:spChg chg="mod">
          <ac:chgData name="Sherwin Sacki" userId="7dbf0681-cca9-41a0-a203-d2607eae42c9" providerId="ADAL" clId="{25C4DA11-6D7E-4B4B-8579-D15D10CB030D}" dt="2024-06-19T14:08:20.525" v="404"/>
          <ac:spMkLst>
            <pc:docMk/>
            <pc:sldMk cId="1582593477" sldId="259"/>
            <ac:spMk id="31" creationId="{C843B153-8428-55E0-612C-6DE40B1557EB}"/>
          </ac:spMkLst>
        </pc:spChg>
        <pc:spChg chg="mod">
          <ac:chgData name="Sherwin Sacki" userId="7dbf0681-cca9-41a0-a203-d2607eae42c9" providerId="ADAL" clId="{25C4DA11-6D7E-4B4B-8579-D15D10CB030D}" dt="2024-06-19T14:08:20.528" v="407"/>
          <ac:spMkLst>
            <pc:docMk/>
            <pc:sldMk cId="1582593477" sldId="259"/>
            <ac:spMk id="32" creationId="{C843B153-8428-55E0-612C-6DE40B1557EB}"/>
          </ac:spMkLst>
        </pc:spChg>
        <pc:spChg chg="mod">
          <ac:chgData name="Sherwin Sacki" userId="7dbf0681-cca9-41a0-a203-d2607eae42c9" providerId="ADAL" clId="{25C4DA11-6D7E-4B4B-8579-D15D10CB030D}" dt="2024-06-19T14:08:20.531" v="410"/>
          <ac:spMkLst>
            <pc:docMk/>
            <pc:sldMk cId="1582593477" sldId="259"/>
            <ac:spMk id="33" creationId="{C843B153-8428-55E0-612C-6DE40B1557EB}"/>
          </ac:spMkLst>
        </pc:spChg>
        <pc:spChg chg="mod">
          <ac:chgData name="Sherwin Sacki" userId="7dbf0681-cca9-41a0-a203-d2607eae42c9" providerId="ADAL" clId="{25C4DA11-6D7E-4B4B-8579-D15D10CB030D}" dt="2024-06-19T14:08:20.533" v="413"/>
          <ac:spMkLst>
            <pc:docMk/>
            <pc:sldMk cId="1582593477" sldId="259"/>
            <ac:spMk id="34" creationId="{C843B153-8428-55E0-612C-6DE40B1557EB}"/>
          </ac:spMkLst>
        </pc:spChg>
        <pc:spChg chg="mod">
          <ac:chgData name="Sherwin Sacki" userId="7dbf0681-cca9-41a0-a203-d2607eae42c9" providerId="ADAL" clId="{25C4DA11-6D7E-4B4B-8579-D15D10CB030D}" dt="2024-06-19T14:08:20.535" v="416"/>
          <ac:spMkLst>
            <pc:docMk/>
            <pc:sldMk cId="1582593477" sldId="259"/>
            <ac:spMk id="35" creationId="{C843B153-8428-55E0-612C-6DE40B1557EB}"/>
          </ac:spMkLst>
        </pc:spChg>
        <pc:spChg chg="mod">
          <ac:chgData name="Sherwin Sacki" userId="7dbf0681-cca9-41a0-a203-d2607eae42c9" providerId="ADAL" clId="{25C4DA11-6D7E-4B4B-8579-D15D10CB030D}" dt="2024-06-19T14:08:20.537" v="419"/>
          <ac:spMkLst>
            <pc:docMk/>
            <pc:sldMk cId="1582593477" sldId="259"/>
            <ac:spMk id="36" creationId="{C843B153-8428-55E0-612C-6DE40B1557EB}"/>
          </ac:spMkLst>
        </pc:spChg>
        <pc:spChg chg="mod">
          <ac:chgData name="Sherwin Sacki" userId="7dbf0681-cca9-41a0-a203-d2607eae42c9" providerId="ADAL" clId="{25C4DA11-6D7E-4B4B-8579-D15D10CB030D}" dt="2024-06-19T14:08:20.540" v="422"/>
          <ac:spMkLst>
            <pc:docMk/>
            <pc:sldMk cId="1582593477" sldId="259"/>
            <ac:spMk id="37" creationId="{C843B153-8428-55E0-612C-6DE40B1557EB}"/>
          </ac:spMkLst>
        </pc:spChg>
        <pc:spChg chg="del">
          <ac:chgData name="Sherwin Sacki" userId="7dbf0681-cca9-41a0-a203-d2607eae42c9" providerId="ADAL" clId="{25C4DA11-6D7E-4B4B-8579-D15D10CB030D}" dt="2024-06-19T14:08:22.726" v="431" actId="478"/>
          <ac:spMkLst>
            <pc:docMk/>
            <pc:sldMk cId="1582593477" sldId="259"/>
            <ac:spMk id="79" creationId="{0260790D-9352-FF19-294A-9F8043E0510E}"/>
          </ac:spMkLst>
        </pc:spChg>
        <pc:graphicFrameChg chg="add mod">
          <ac:chgData name="Sherwin Sacki" userId="7dbf0681-cca9-41a0-a203-d2607eae42c9" providerId="ADAL" clId="{25C4DA11-6D7E-4B4B-8579-D15D10CB030D}" dt="2024-06-19T14:09:23.765" v="477" actId="1076"/>
          <ac:graphicFrameMkLst>
            <pc:docMk/>
            <pc:sldMk cId="1582593477" sldId="259"/>
            <ac:graphicFrameMk id="4" creationId="{36D63430-28D0-50C4-C47E-8AA6B4F911AF}"/>
          </ac:graphicFrameMkLst>
        </pc:graphicFrameChg>
        <pc:graphicFrameChg chg="mod">
          <ac:chgData name="Sherwin Sacki" userId="7dbf0681-cca9-41a0-a203-d2607eae42c9" providerId="ADAL" clId="{25C4DA11-6D7E-4B4B-8579-D15D10CB030D}" dt="2024-06-19T14:08:20.556" v="430"/>
          <ac:graphicFrameMkLst>
            <pc:docMk/>
            <pc:sldMk cId="1582593477" sldId="259"/>
            <ac:graphicFrameMk id="5" creationId="{B69E9189-1167-C0F0-D2E2-1D8DD22C3FAB}"/>
          </ac:graphicFrameMkLst>
        </pc:graphicFrameChg>
        <pc:graphicFrameChg chg="del">
          <ac:chgData name="Sherwin Sacki" userId="7dbf0681-cca9-41a0-a203-d2607eae42c9" providerId="ADAL" clId="{25C4DA11-6D7E-4B4B-8579-D15D10CB030D}" dt="2024-06-19T14:08:20.442" v="380"/>
          <ac:graphicFrameMkLst>
            <pc:docMk/>
            <pc:sldMk cId="1582593477" sldId="259"/>
            <ac:graphicFrameMk id="80" creationId="{929EAD28-F05C-D8BD-C54C-08DF6AA66357}"/>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1380512\Downloads\F-898009286_Copy%20of%20Mock%20customer%20feedback%20for%20data%20and%20customer%20insight%20officer%20interview.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1380512\Downloads\F-898009286_Copy%20of%20Mock%20customer%20feedback%20for%20data%20and%20customer%20insight%20officer%20interview.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4.xml.rels><?xml version="1.0" encoding="UTF-8" standalone="yes"?>
<Relationships xmlns="http://schemas.openxmlformats.org/package/2006/relationships"><Relationship Id="rId3" Type="http://schemas.openxmlformats.org/officeDocument/2006/relationships/oleObject" Target="file:///C:\Users\S1380512\Downloads\F-898009286_Copy%20of%20Mock%20customer%20feedback%20for%20data%20and%20customer%20insight%20officer%20interview.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1380512\Downloads\F-898009286_Copy%20of%20Mock%20customer%20feedback%20for%20data%20and%20customer%20insight%20officer%20interview.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b="1">
                <a:solidFill>
                  <a:sysClr val="windowText" lastClr="000000"/>
                </a:solidFill>
              </a:rPr>
              <a:t>Where was the</a:t>
            </a:r>
            <a:r>
              <a:rPr lang="en-GB" b="1" baseline="0">
                <a:solidFill>
                  <a:sysClr val="windowText" lastClr="000000"/>
                </a:solidFill>
              </a:rPr>
              <a:t> Work Located</a:t>
            </a:r>
            <a:endParaRPr lang="en-GB" b="1">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6"/>
              </a:solidFill>
              <a:ln w="19050">
                <a:solidFill>
                  <a:schemeClr val="lt1"/>
                </a:solidFill>
              </a:ln>
              <a:effectLst/>
            </c:spPr>
            <c:extLst>
              <c:ext xmlns:c16="http://schemas.microsoft.com/office/drawing/2014/chart" uri="{C3380CC4-5D6E-409C-BE32-E72D297353CC}">
                <c16:uniqueId val="{00000001-7F1B-4F6A-8DDE-47B6B2249112}"/>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7F1B-4F6A-8DDE-47B6B2249112}"/>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7F1B-4F6A-8DDE-47B6B2249112}"/>
              </c:ext>
            </c:extLst>
          </c:dPt>
          <c:dPt>
            <c:idx val="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07-7F1B-4F6A-8DDE-47B6B2249112}"/>
              </c:ext>
            </c:extLst>
          </c:dPt>
          <c:dPt>
            <c:idx val="4"/>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9-7F1B-4F6A-8DDE-47B6B2249112}"/>
              </c:ext>
            </c:extLst>
          </c:dPt>
          <c:dPt>
            <c:idx val="5"/>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0B-7F1B-4F6A-8DDE-47B6B2249112}"/>
              </c:ext>
            </c:extLst>
          </c:dPt>
          <c:dPt>
            <c:idx val="6"/>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0D-7F1B-4F6A-8DDE-47B6B2249112}"/>
              </c:ext>
            </c:extLst>
          </c:dPt>
          <c:dPt>
            <c:idx val="7"/>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0F-7F1B-4F6A-8DDE-47B6B2249112}"/>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Tables!$E$11:$E$18</c:f>
              <c:strCache>
                <c:ptCount val="8"/>
                <c:pt idx="0">
                  <c:v>A King's Residence</c:v>
                </c:pt>
                <c:pt idx="1">
                  <c:v>Denmark Hill Campus</c:v>
                </c:pt>
                <c:pt idx="2">
                  <c:v>Guy's Campus - all buildings except New Hunts House</c:v>
                </c:pt>
                <c:pt idx="3">
                  <c:v>Guy's Campus - New Hunts House</c:v>
                </c:pt>
                <c:pt idx="4">
                  <c:v>St Thomas's Campus</c:v>
                </c:pt>
                <c:pt idx="5">
                  <c:v>Strand Campus - all buildings, including Virginia Woolf &amp; Maughan Library</c:v>
                </c:pt>
                <c:pt idx="6">
                  <c:v>Waterloo Campus - Franklin Wilkins Building</c:v>
                </c:pt>
                <c:pt idx="7">
                  <c:v>Waterloo Campus - James Clerk Maxwell &amp; Waterloo Bridge Wing</c:v>
                </c:pt>
              </c:strCache>
            </c:strRef>
          </c:cat>
          <c:val>
            <c:numRef>
              <c:f>Tables!$F$11:$F$18</c:f>
              <c:numCache>
                <c:formatCode>0</c:formatCode>
                <c:ptCount val="8"/>
                <c:pt idx="0">
                  <c:v>6</c:v>
                </c:pt>
                <c:pt idx="1">
                  <c:v>29</c:v>
                </c:pt>
                <c:pt idx="2">
                  <c:v>33</c:v>
                </c:pt>
                <c:pt idx="3">
                  <c:v>3</c:v>
                </c:pt>
                <c:pt idx="4">
                  <c:v>1</c:v>
                </c:pt>
                <c:pt idx="5">
                  <c:v>35</c:v>
                </c:pt>
                <c:pt idx="6">
                  <c:v>2</c:v>
                </c:pt>
                <c:pt idx="7">
                  <c:v>8</c:v>
                </c:pt>
              </c:numCache>
            </c:numRef>
          </c:val>
          <c:extLst>
            <c:ext xmlns:c16="http://schemas.microsoft.com/office/drawing/2014/chart" uri="{C3380CC4-5D6E-409C-BE32-E72D297353CC}">
              <c16:uniqueId val="{00000010-7F1B-4F6A-8DDE-47B6B2249112}"/>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US" b="1">
                <a:solidFill>
                  <a:sysClr val="windowText" lastClr="000000"/>
                </a:solidFill>
              </a:rPr>
              <a:t>Type of Work</a:t>
            </a:r>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Tables!$G$11:$G$16</c:f>
              <c:strCache>
                <c:ptCount val="6"/>
                <c:pt idx="0">
                  <c:v>Cleaning</c:v>
                </c:pt>
                <c:pt idx="1">
                  <c:v>Hard services (e.g. lighting, plumbing, decorating, heating/cooling, fabrics etc.)</c:v>
                </c:pt>
                <c:pt idx="2">
                  <c:v>Residences - Applications</c:v>
                </c:pt>
                <c:pt idx="3">
                  <c:v>Residences - In House Service</c:v>
                </c:pt>
                <c:pt idx="4">
                  <c:v>Security</c:v>
                </c:pt>
                <c:pt idx="5">
                  <c:v>Soft Services (e.g. moving furniture, room set up, WEEE collection, pest control, internal deliveries between campuses etc.)</c:v>
                </c:pt>
              </c:strCache>
            </c:strRef>
          </c:cat>
          <c:val>
            <c:numRef>
              <c:f>Tables!$H$11:$H$16</c:f>
              <c:numCache>
                <c:formatCode>0</c:formatCode>
                <c:ptCount val="6"/>
                <c:pt idx="0">
                  <c:v>14</c:v>
                </c:pt>
                <c:pt idx="1">
                  <c:v>69</c:v>
                </c:pt>
                <c:pt idx="2">
                  <c:v>2</c:v>
                </c:pt>
                <c:pt idx="3">
                  <c:v>3</c:v>
                </c:pt>
                <c:pt idx="4">
                  <c:v>1</c:v>
                </c:pt>
                <c:pt idx="5">
                  <c:v>28</c:v>
                </c:pt>
              </c:numCache>
            </c:numRef>
          </c:val>
          <c:extLst>
            <c:ext xmlns:c16="http://schemas.microsoft.com/office/drawing/2014/chart" uri="{C3380CC4-5D6E-409C-BE32-E72D297353CC}">
              <c16:uniqueId val="{00000000-1EC0-473F-8E1A-6AFB04F22EB1}"/>
            </c:ext>
          </c:extLst>
        </c:ser>
        <c:dLbls>
          <c:dLblPos val="outEnd"/>
          <c:showLegendKey val="0"/>
          <c:showVal val="1"/>
          <c:showCatName val="0"/>
          <c:showSerName val="0"/>
          <c:showPercent val="0"/>
          <c:showBubbleSize val="0"/>
        </c:dLbls>
        <c:gapWidth val="219"/>
        <c:overlap val="-27"/>
        <c:axId val="1461272415"/>
        <c:axId val="1461274815"/>
      </c:barChart>
      <c:catAx>
        <c:axId val="1461272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1274815"/>
        <c:crosses val="autoZero"/>
        <c:auto val="1"/>
        <c:lblAlgn val="ctr"/>
        <c:lblOffset val="100"/>
        <c:noMultiLvlLbl val="0"/>
      </c:catAx>
      <c:valAx>
        <c:axId val="1461274815"/>
        <c:scaling>
          <c:orientation val="minMax"/>
        </c:scaling>
        <c:delete val="1"/>
        <c:axPos val="l"/>
        <c:numFmt formatCode="0" sourceLinked="1"/>
        <c:majorTickMark val="none"/>
        <c:minorTickMark val="none"/>
        <c:tickLblPos val="nextTo"/>
        <c:crossAx val="1461272415"/>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4129930394431554E-2"/>
          <c:y val="5.7372175980975028E-2"/>
          <c:w val="0.95174013921113687"/>
          <c:h val="0.8852556480380499"/>
        </c:manualLayout>
      </c:layout>
      <c:barChart>
        <c:barDir val="col"/>
        <c:grouping val="stacked"/>
        <c:varyColors val="0"/>
        <c:ser>
          <c:idx val="0"/>
          <c:order val="0"/>
          <c:spPr>
            <a:solidFill>
              <a:schemeClr val="accent3"/>
            </a:solidFill>
            <a:ln>
              <a:noFill/>
            </a:ln>
          </c:spPr>
          <c:invertIfNegative val="0"/>
          <c:dLbls>
            <c:dLbl>
              <c:idx val="0"/>
              <c:layout>
                <c:manualLayout>
                  <c:x val="0"/>
                  <c:y val="-1.1890606420927466E-3"/>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34D-4B76-9F78-6E010C55C2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78</c:v>
                </c:pt>
              </c:numCache>
            </c:numRef>
          </c:val>
          <c:extLst>
            <c:ext xmlns:c16="http://schemas.microsoft.com/office/drawing/2014/chart" uri="{C3380CC4-5D6E-409C-BE32-E72D297353CC}">
              <c16:uniqueId val="{00000001-034D-4B76-9F78-6E010C55C25D}"/>
            </c:ext>
          </c:extLst>
        </c:ser>
        <c:ser>
          <c:idx val="1"/>
          <c:order val="1"/>
          <c:spPr>
            <a:solidFill>
              <a:schemeClr val="accent2"/>
            </a:solidFill>
            <a:ln>
              <a:noFill/>
            </a:ln>
          </c:spPr>
          <c:invertIfNegative val="0"/>
          <c:dLbls>
            <c:dLbl>
              <c:idx val="0"/>
              <c:layout>
                <c:manualLayout>
                  <c:x val="0"/>
                  <c:y val="-8.9179548156956008E-4"/>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34D-4B76-9F78-6E010C55C2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8</c:v>
                </c:pt>
              </c:numCache>
            </c:numRef>
          </c:val>
          <c:extLst>
            <c:ext xmlns:c16="http://schemas.microsoft.com/office/drawing/2014/chart" uri="{C3380CC4-5D6E-409C-BE32-E72D297353CC}">
              <c16:uniqueId val="{00000003-034D-4B76-9F78-6E010C55C25D}"/>
            </c:ext>
          </c:extLst>
        </c:ser>
        <c:ser>
          <c:idx val="2"/>
          <c:order val="2"/>
          <c:spPr>
            <a:solidFill>
              <a:schemeClr val="accent1"/>
            </a:solidFill>
            <a:ln>
              <a:noFill/>
            </a:ln>
          </c:spPr>
          <c:invertIfNegative val="0"/>
          <c:dLbls>
            <c:dLbl>
              <c:idx val="0"/>
              <c:layout>
                <c:manualLayout>
                  <c:x val="0"/>
                  <c:y val="-8.9179548156956008E-4"/>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34D-4B76-9F78-6E010C55C2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General</c:formatCode>
                <c:ptCount val="1"/>
                <c:pt idx="0">
                  <c:v>7</c:v>
                </c:pt>
              </c:numCache>
            </c:numRef>
          </c:val>
          <c:extLst>
            <c:ext xmlns:c16="http://schemas.microsoft.com/office/drawing/2014/chart" uri="{C3380CC4-5D6E-409C-BE32-E72D297353CC}">
              <c16:uniqueId val="{00000005-034D-4B76-9F78-6E010C55C25D}"/>
            </c:ext>
          </c:extLst>
        </c:ser>
        <c:ser>
          <c:idx val="3"/>
          <c:order val="3"/>
          <c:spPr>
            <a:solidFill>
              <a:schemeClr val="accent6"/>
            </a:solidFill>
            <a:ln>
              <a:noFill/>
            </a:ln>
          </c:spPr>
          <c:invertIfNegative val="0"/>
          <c:dLbls>
            <c:dLbl>
              <c:idx val="0"/>
              <c:layout>
                <c:manualLayout>
                  <c:x val="-0.13225058004640372"/>
                  <c:y val="-8.9179548156956008E-4"/>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34D-4B76-9F78-6E010C55C2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General</c:formatCode>
                <c:ptCount val="1"/>
                <c:pt idx="0">
                  <c:v>4</c:v>
                </c:pt>
              </c:numCache>
            </c:numRef>
          </c:val>
          <c:extLst>
            <c:ext xmlns:c16="http://schemas.microsoft.com/office/drawing/2014/chart" uri="{C3380CC4-5D6E-409C-BE32-E72D297353CC}">
              <c16:uniqueId val="{00000007-034D-4B76-9F78-6E010C55C25D}"/>
            </c:ext>
          </c:extLst>
        </c:ser>
        <c:ser>
          <c:idx val="4"/>
          <c:order val="4"/>
          <c:spPr>
            <a:solidFill>
              <a:schemeClr val="accent5"/>
            </a:solidFill>
            <a:ln>
              <a:noFill/>
            </a:ln>
          </c:spPr>
          <c:invertIfNegative val="0"/>
          <c:val>
            <c:numRef>
              <c:f>Sheet1!$A$5</c:f>
              <c:numCache>
                <c:formatCode>General</c:formatCode>
                <c:ptCount val="1"/>
                <c:pt idx="0">
                  <c:v>1</c:v>
                </c:pt>
              </c:numCache>
            </c:numRef>
          </c:val>
          <c:extLst>
            <c:ext xmlns:c16="http://schemas.microsoft.com/office/drawing/2014/chart" uri="{C3380CC4-5D6E-409C-BE32-E72D297353CC}">
              <c16:uniqueId val="{00000008-034D-4B76-9F78-6E010C55C25D}"/>
            </c:ext>
          </c:extLst>
        </c:ser>
        <c:ser>
          <c:idx val="5"/>
          <c:order val="5"/>
          <c:spPr>
            <a:solidFill>
              <a:schemeClr val="accent4"/>
            </a:solidFill>
            <a:ln>
              <a:noFill/>
            </a:ln>
          </c:spPr>
          <c:invertIfNegative val="0"/>
          <c:dLbls>
            <c:dLbl>
              <c:idx val="0"/>
              <c:layout>
                <c:manualLayout>
                  <c:x val="-0.13225058004640372"/>
                  <c:y val="-1.1890606420927466E-3"/>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034D-4B76-9F78-6E010C55C2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c:f>
              <c:numCache>
                <c:formatCode>General</c:formatCode>
                <c:ptCount val="1"/>
                <c:pt idx="0">
                  <c:v>4</c:v>
                </c:pt>
              </c:numCache>
            </c:numRef>
          </c:val>
          <c:extLst>
            <c:ext xmlns:c16="http://schemas.microsoft.com/office/drawing/2014/chart" uri="{C3380CC4-5D6E-409C-BE32-E72D297353CC}">
              <c16:uniqueId val="{0000000A-034D-4B76-9F78-6E010C55C25D}"/>
            </c:ext>
          </c:extLst>
        </c:ser>
        <c:ser>
          <c:idx val="6"/>
          <c:order val="6"/>
          <c:spPr>
            <a:solidFill>
              <a:schemeClr val="accent3"/>
            </a:solidFill>
            <a:ln>
              <a:noFill/>
            </a:ln>
          </c:spPr>
          <c:invertIfNegative val="0"/>
          <c:val>
            <c:numRef>
              <c:f>Sheet1!$A$7</c:f>
              <c:numCache>
                <c:formatCode>General</c:formatCode>
                <c:ptCount val="1"/>
                <c:pt idx="0">
                  <c:v>2</c:v>
                </c:pt>
              </c:numCache>
            </c:numRef>
          </c:val>
          <c:extLst>
            <c:ext xmlns:c16="http://schemas.microsoft.com/office/drawing/2014/chart" uri="{C3380CC4-5D6E-409C-BE32-E72D297353CC}">
              <c16:uniqueId val="{0000000B-034D-4B76-9F78-6E010C55C25D}"/>
            </c:ext>
          </c:extLst>
        </c:ser>
        <c:ser>
          <c:idx val="7"/>
          <c:order val="7"/>
          <c:spPr>
            <a:solidFill>
              <a:schemeClr val="accent2"/>
            </a:solidFill>
            <a:ln>
              <a:noFill/>
            </a:ln>
          </c:spPr>
          <c:invertIfNegative val="0"/>
          <c:val>
            <c:numRef>
              <c:f>Sheet1!$A$8</c:f>
              <c:numCache>
                <c:formatCode>General</c:formatCode>
                <c:ptCount val="1"/>
                <c:pt idx="0">
                  <c:v>2</c:v>
                </c:pt>
              </c:numCache>
            </c:numRef>
          </c:val>
          <c:extLst>
            <c:ext xmlns:c16="http://schemas.microsoft.com/office/drawing/2014/chart" uri="{C3380CC4-5D6E-409C-BE32-E72D297353CC}">
              <c16:uniqueId val="{0000000C-034D-4B76-9F78-6E010C55C25D}"/>
            </c:ext>
          </c:extLst>
        </c:ser>
        <c:ser>
          <c:idx val="8"/>
          <c:order val="8"/>
          <c:spPr>
            <a:solidFill>
              <a:schemeClr val="accent1"/>
            </a:solidFill>
            <a:ln>
              <a:noFill/>
            </a:ln>
          </c:spPr>
          <c:invertIfNegative val="0"/>
          <c:dLbls>
            <c:dLbl>
              <c:idx val="0"/>
              <c:layout>
                <c:manualLayout>
                  <c:x val="0.2923433874709977"/>
                  <c:y val="8.6206896551724137E-3"/>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034D-4B76-9F78-6E010C55C2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Sheet1!$A$9</c:f>
              <c:numCache>
                <c:formatCode>General</c:formatCode>
                <c:ptCount val="1"/>
                <c:pt idx="0">
                  <c:v>2</c:v>
                </c:pt>
              </c:numCache>
            </c:numRef>
          </c:val>
          <c:extLst>
            <c:ext xmlns:c16="http://schemas.microsoft.com/office/drawing/2014/chart" uri="{C3380CC4-5D6E-409C-BE32-E72D297353CC}">
              <c16:uniqueId val="{0000000E-034D-4B76-9F78-6E010C55C25D}"/>
            </c:ext>
          </c:extLst>
        </c:ser>
        <c:dLbls>
          <c:showLegendKey val="0"/>
          <c:showVal val="0"/>
          <c:showCatName val="0"/>
          <c:showSerName val="0"/>
          <c:showPercent val="0"/>
          <c:showBubbleSize val="0"/>
        </c:dLbls>
        <c:gapWidth val="80"/>
        <c:overlap val="100"/>
        <c:axId val="468674479"/>
        <c:axId val="1"/>
      </c:barChart>
      <c:catAx>
        <c:axId val="46867447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8"/>
          <c:min val="0"/>
        </c:scaling>
        <c:delete val="1"/>
        <c:axPos val="l"/>
        <c:numFmt formatCode="General" sourceLinked="1"/>
        <c:majorTickMark val="out"/>
        <c:minorTickMark val="none"/>
        <c:tickLblPos val="nextTo"/>
        <c:crossAx val="468674479"/>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b="1">
                <a:solidFill>
                  <a:sysClr val="windowText" lastClr="000000"/>
                </a:solidFill>
              </a:rPr>
              <a:t>NPS by</a:t>
            </a:r>
            <a:r>
              <a:rPr lang="en-GB" b="1" baseline="0">
                <a:solidFill>
                  <a:sysClr val="windowText" lastClr="000000"/>
                </a:solidFill>
              </a:rPr>
              <a:t> Service</a:t>
            </a:r>
            <a:endParaRPr lang="en-GB" b="1">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Pivots!$O$36</c:f>
              <c:strCache>
                <c:ptCount val="1"/>
                <c:pt idx="0">
                  <c:v> 0 -6</c:v>
                </c:pt>
              </c:strCache>
            </c:strRef>
          </c:tx>
          <c:spPr>
            <a:solidFill>
              <a:srgbClr val="C00000"/>
            </a:solidFill>
            <a:ln>
              <a:noFill/>
            </a:ln>
            <a:effectLst/>
          </c:spPr>
          <c:invertIfNegative val="0"/>
          <c:dLbls>
            <c:dLbl>
              <c:idx val="0"/>
              <c:layout>
                <c:manualLayout>
                  <c:x val="-3.1513715652800034E-2"/>
                  <c:y val="-2.17155266015202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69B-43A0-9A8D-3E5DA5AB0A22}"/>
                </c:ext>
              </c:extLst>
            </c:dLbl>
            <c:dLbl>
              <c:idx val="2"/>
              <c:delete val="1"/>
              <c:extLst>
                <c:ext xmlns:c15="http://schemas.microsoft.com/office/drawing/2012/chart" uri="{CE6537A1-D6FC-4f65-9D91-7224C49458BB}"/>
                <c:ext xmlns:c16="http://schemas.microsoft.com/office/drawing/2014/chart" uri="{C3380CC4-5D6E-409C-BE32-E72D297353CC}">
                  <c16:uniqueId val="{00000001-169B-43A0-9A8D-3E5DA5AB0A22}"/>
                </c:ext>
              </c:extLst>
            </c:dLbl>
            <c:dLbl>
              <c:idx val="3"/>
              <c:delete val="1"/>
              <c:extLst>
                <c:ext xmlns:c15="http://schemas.microsoft.com/office/drawing/2012/chart" uri="{CE6537A1-D6FC-4f65-9D91-7224C49458BB}"/>
                <c:ext xmlns:c16="http://schemas.microsoft.com/office/drawing/2014/chart" uri="{C3380CC4-5D6E-409C-BE32-E72D297353CC}">
                  <c16:uniqueId val="{00000002-169B-43A0-9A8D-3E5DA5AB0A22}"/>
                </c:ext>
              </c:extLst>
            </c:dLbl>
            <c:dLbl>
              <c:idx val="5"/>
              <c:delete val="1"/>
              <c:extLst>
                <c:ext xmlns:c15="http://schemas.microsoft.com/office/drawing/2012/chart" uri="{CE6537A1-D6FC-4f65-9D91-7224C49458BB}"/>
                <c:ext xmlns:c16="http://schemas.microsoft.com/office/drawing/2014/chart" uri="{C3380CC4-5D6E-409C-BE32-E72D297353CC}">
                  <c16:uniqueId val="{00000003-169B-43A0-9A8D-3E5DA5AB0A22}"/>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Pivots!$N$37:$N$42</c:f>
              <c:strCache>
                <c:ptCount val="6"/>
                <c:pt idx="0">
                  <c:v>Cleaning</c:v>
                </c:pt>
                <c:pt idx="1">
                  <c:v>Hard services</c:v>
                </c:pt>
                <c:pt idx="2">
                  <c:v>Residences - Applications</c:v>
                </c:pt>
                <c:pt idx="3">
                  <c:v>Residences - In House Service</c:v>
                </c:pt>
                <c:pt idx="4">
                  <c:v>Security</c:v>
                </c:pt>
                <c:pt idx="5">
                  <c:v>Soft Services</c:v>
                </c:pt>
              </c:strCache>
            </c:strRef>
          </c:cat>
          <c:val>
            <c:numRef>
              <c:f>Pivots!$O$37:$O$42</c:f>
              <c:numCache>
                <c:formatCode>0</c:formatCode>
                <c:ptCount val="6"/>
                <c:pt idx="0">
                  <c:v>-7.1428571428571423</c:v>
                </c:pt>
                <c:pt idx="1">
                  <c:v>-26.086956521739129</c:v>
                </c:pt>
                <c:pt idx="2">
                  <c:v>0</c:v>
                </c:pt>
                <c:pt idx="3">
                  <c:v>0</c:v>
                </c:pt>
                <c:pt idx="4">
                  <c:v>-100</c:v>
                </c:pt>
                <c:pt idx="5">
                  <c:v>0</c:v>
                </c:pt>
              </c:numCache>
            </c:numRef>
          </c:val>
          <c:extLst>
            <c:ext xmlns:c16="http://schemas.microsoft.com/office/drawing/2014/chart" uri="{C3380CC4-5D6E-409C-BE32-E72D297353CC}">
              <c16:uniqueId val="{00000004-169B-43A0-9A8D-3E5DA5AB0A22}"/>
            </c:ext>
          </c:extLst>
        </c:ser>
        <c:ser>
          <c:idx val="1"/>
          <c:order val="1"/>
          <c:tx>
            <c:strRef>
              <c:f>Pivots!$P$36</c:f>
              <c:strCache>
                <c:ptCount val="1"/>
                <c:pt idx="0">
                  <c:v> 9 -10</c:v>
                </c:pt>
              </c:strCache>
            </c:strRef>
          </c:tx>
          <c:spPr>
            <a:solidFill>
              <a:schemeClr val="accent6">
                <a:lumMod val="75000"/>
              </a:schemeClr>
            </a:solidFill>
            <a:ln>
              <a:noFill/>
            </a:ln>
            <a:effectLst/>
          </c:spPr>
          <c:invertIfNegative val="0"/>
          <c:dLbls>
            <c:dLbl>
              <c:idx val="0"/>
              <c:layout>
                <c:manualLayout>
                  <c:x val="-0.16164324592169341"/>
                  <c:y val="-2.17155266015202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69B-43A0-9A8D-3E5DA5AB0A22}"/>
                </c:ext>
              </c:extLst>
            </c:dLbl>
            <c:dLbl>
              <c:idx val="5"/>
              <c:layout>
                <c:manualLayout>
                  <c:x val="-0.18085367647628126"/>
                  <c:y val="2.605863192182408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69B-43A0-9A8D-3E5DA5AB0A22}"/>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Pivots!$N$37:$N$42</c:f>
              <c:strCache>
                <c:ptCount val="6"/>
                <c:pt idx="0">
                  <c:v>Cleaning</c:v>
                </c:pt>
                <c:pt idx="1">
                  <c:v>Hard services</c:v>
                </c:pt>
                <c:pt idx="2">
                  <c:v>Residences - Applications</c:v>
                </c:pt>
                <c:pt idx="3">
                  <c:v>Residences - In House Service</c:v>
                </c:pt>
                <c:pt idx="4">
                  <c:v>Security</c:v>
                </c:pt>
                <c:pt idx="5">
                  <c:v>Soft Services</c:v>
                </c:pt>
              </c:strCache>
            </c:strRef>
          </c:cat>
          <c:val>
            <c:numRef>
              <c:f>Pivots!$P$37:$P$42</c:f>
              <c:numCache>
                <c:formatCode>0</c:formatCode>
                <c:ptCount val="6"/>
                <c:pt idx="0">
                  <c:v>78.571428571428569</c:v>
                </c:pt>
                <c:pt idx="1">
                  <c:v>65.217391304347828</c:v>
                </c:pt>
                <c:pt idx="2">
                  <c:v>100</c:v>
                </c:pt>
                <c:pt idx="3">
                  <c:v>100</c:v>
                </c:pt>
                <c:pt idx="4">
                  <c:v>0</c:v>
                </c:pt>
                <c:pt idx="5">
                  <c:v>89.285714285714292</c:v>
                </c:pt>
              </c:numCache>
            </c:numRef>
          </c:val>
          <c:extLst>
            <c:ext xmlns:c16="http://schemas.microsoft.com/office/drawing/2014/chart" uri="{C3380CC4-5D6E-409C-BE32-E72D297353CC}">
              <c16:uniqueId val="{00000007-169B-43A0-9A8D-3E5DA5AB0A22}"/>
            </c:ext>
          </c:extLst>
        </c:ser>
        <c:dLbls>
          <c:dLblPos val="ctr"/>
          <c:showLegendKey val="0"/>
          <c:showVal val="1"/>
          <c:showCatName val="0"/>
          <c:showSerName val="0"/>
          <c:showPercent val="0"/>
          <c:showBubbleSize val="0"/>
        </c:dLbls>
        <c:gapWidth val="40"/>
        <c:overlap val="100"/>
        <c:axId val="1625144015"/>
        <c:axId val="1625142095"/>
      </c:barChart>
      <c:catAx>
        <c:axId val="1625144015"/>
        <c:scaling>
          <c:orientation val="minMax"/>
        </c:scaling>
        <c:delete val="0"/>
        <c:axPos val="l"/>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25142095"/>
        <c:crosses val="autoZero"/>
        <c:auto val="1"/>
        <c:lblAlgn val="ctr"/>
        <c:lblOffset val="100"/>
        <c:noMultiLvlLbl val="0"/>
      </c:catAx>
      <c:valAx>
        <c:axId val="1625142095"/>
        <c:scaling>
          <c:orientation val="minMax"/>
          <c:max val="100"/>
          <c:min val="-100"/>
        </c:scaling>
        <c:delete val="0"/>
        <c:axPos val="b"/>
        <c:numFmt formatCode="[Green]0&quot;%&quot;;[Red]0&quot;%&quot;"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625144015"/>
        <c:crosses val="autoZero"/>
        <c:crossBetween val="midCat"/>
        <c:majorUnit val="50"/>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b="1">
                <a:solidFill>
                  <a:sysClr val="windowText" lastClr="000000"/>
                </a:solidFill>
              </a:rPr>
              <a:t>Satisfaction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Pivots!$B$16</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Pivots!$A$17:$A$22</c:f>
              <c:strCache>
                <c:ptCount val="6"/>
                <c:pt idx="0">
                  <c:v>Cleaning</c:v>
                </c:pt>
                <c:pt idx="1">
                  <c:v>Hard services</c:v>
                </c:pt>
                <c:pt idx="2">
                  <c:v>Residences - Applications</c:v>
                </c:pt>
                <c:pt idx="3">
                  <c:v>Residences - In House Service</c:v>
                </c:pt>
                <c:pt idx="4">
                  <c:v>Security</c:v>
                </c:pt>
                <c:pt idx="5">
                  <c:v>Soft Services</c:v>
                </c:pt>
              </c:strCache>
            </c:strRef>
          </c:cat>
          <c:val>
            <c:numRef>
              <c:f>Pivots!$B$17:$B$22</c:f>
              <c:numCache>
                <c:formatCode>General</c:formatCode>
                <c:ptCount val="6"/>
                <c:pt idx="0">
                  <c:v>1</c:v>
                </c:pt>
                <c:pt idx="1">
                  <c:v>19</c:v>
                </c:pt>
                <c:pt idx="5">
                  <c:v>1</c:v>
                </c:pt>
              </c:numCache>
            </c:numRef>
          </c:val>
          <c:extLst>
            <c:ext xmlns:c16="http://schemas.microsoft.com/office/drawing/2014/chart" uri="{C3380CC4-5D6E-409C-BE32-E72D297353CC}">
              <c16:uniqueId val="{00000000-5E11-4A12-BEBF-A0649FE6A59C}"/>
            </c:ext>
          </c:extLst>
        </c:ser>
        <c:ser>
          <c:idx val="1"/>
          <c:order val="1"/>
          <c:tx>
            <c:strRef>
              <c:f>Pivots!$C$16</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Pivots!$A$17:$A$22</c:f>
              <c:strCache>
                <c:ptCount val="6"/>
                <c:pt idx="0">
                  <c:v>Cleaning</c:v>
                </c:pt>
                <c:pt idx="1">
                  <c:v>Hard services</c:v>
                </c:pt>
                <c:pt idx="2">
                  <c:v>Residences - Applications</c:v>
                </c:pt>
                <c:pt idx="3">
                  <c:v>Residences - In House Service</c:v>
                </c:pt>
                <c:pt idx="4">
                  <c:v>Security</c:v>
                </c:pt>
                <c:pt idx="5">
                  <c:v>Soft Services</c:v>
                </c:pt>
              </c:strCache>
            </c:strRef>
          </c:cat>
          <c:val>
            <c:numRef>
              <c:f>Pivots!$C$17:$C$22</c:f>
              <c:numCache>
                <c:formatCode>General</c:formatCode>
                <c:ptCount val="6"/>
                <c:pt idx="0">
                  <c:v>13</c:v>
                </c:pt>
                <c:pt idx="1">
                  <c:v>50</c:v>
                </c:pt>
                <c:pt idx="2">
                  <c:v>2</c:v>
                </c:pt>
                <c:pt idx="3">
                  <c:v>3</c:v>
                </c:pt>
                <c:pt idx="4">
                  <c:v>1</c:v>
                </c:pt>
                <c:pt idx="5">
                  <c:v>27</c:v>
                </c:pt>
              </c:numCache>
            </c:numRef>
          </c:val>
          <c:extLst>
            <c:ext xmlns:c16="http://schemas.microsoft.com/office/drawing/2014/chart" uri="{C3380CC4-5D6E-409C-BE32-E72D297353CC}">
              <c16:uniqueId val="{00000001-5E11-4A12-BEBF-A0649FE6A59C}"/>
            </c:ext>
          </c:extLst>
        </c:ser>
        <c:dLbls>
          <c:dLblPos val="outEnd"/>
          <c:showLegendKey val="0"/>
          <c:showVal val="1"/>
          <c:showCatName val="0"/>
          <c:showSerName val="0"/>
          <c:showPercent val="0"/>
          <c:showBubbleSize val="0"/>
        </c:dLbls>
        <c:gapWidth val="182"/>
        <c:axId val="1326135312"/>
        <c:axId val="1326124272"/>
      </c:barChart>
      <c:catAx>
        <c:axId val="13261353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26124272"/>
        <c:crosses val="autoZero"/>
        <c:auto val="1"/>
        <c:lblAlgn val="ctr"/>
        <c:lblOffset val="100"/>
        <c:noMultiLvlLbl val="0"/>
      </c:catAx>
      <c:valAx>
        <c:axId val="1326124272"/>
        <c:scaling>
          <c:orientation val="minMax"/>
        </c:scaling>
        <c:delete val="1"/>
        <c:axPos val="b"/>
        <c:numFmt formatCode="General" sourceLinked="1"/>
        <c:majorTickMark val="none"/>
        <c:minorTickMark val="none"/>
        <c:tickLblPos val="nextTo"/>
        <c:crossAx val="1326135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C790-3E34-DE53-063D-28D5A67392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5A23F3-FE0A-78FC-1463-5FB3573B0A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C02AB0A-7D4A-EF54-E271-C629FFC80B9B}"/>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5" name="Footer Placeholder 4">
            <a:extLst>
              <a:ext uri="{FF2B5EF4-FFF2-40B4-BE49-F238E27FC236}">
                <a16:creationId xmlns:a16="http://schemas.microsoft.com/office/drawing/2014/main" id="{E5BEA2B2-20EF-848D-1197-BB1BCE7F52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B40BF3C-7559-80F6-F882-CF0C276C7406}"/>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977497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FD29F-6465-1617-0B3B-D4AF29C264A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F63449-6F75-447E-0B34-7052FB1F76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1DC8B6-CE80-7CAF-26F6-16B1FF68BA1B}"/>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5" name="Footer Placeholder 4">
            <a:extLst>
              <a:ext uri="{FF2B5EF4-FFF2-40B4-BE49-F238E27FC236}">
                <a16:creationId xmlns:a16="http://schemas.microsoft.com/office/drawing/2014/main" id="{EC74A20B-6932-B833-E99F-A142C534F2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B2B692-662F-21EE-EEC3-14F903BA1F6E}"/>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549198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7B756-437C-EA2F-AFB5-B8F6F81CFC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BC28CB9-FDAE-EC83-CF9B-4D8343CA92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DDBEA0-87F1-579B-6834-BE634CAC923B}"/>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5" name="Footer Placeholder 4">
            <a:extLst>
              <a:ext uri="{FF2B5EF4-FFF2-40B4-BE49-F238E27FC236}">
                <a16:creationId xmlns:a16="http://schemas.microsoft.com/office/drawing/2014/main" id="{057D48C7-6BE6-B3D4-C25D-E95CF096C9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65BE00-3A82-246E-6AFF-6AB714100F7A}"/>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1002004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A926-A03F-DFD7-8388-F1A96ACE74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85E8260-7A0C-F500-04BD-D4E2D200A9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F1A5488-24AA-F178-9275-4855653DE9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BCE8E94-9E8A-3297-EAC1-73CAF7730589}"/>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6" name="Footer Placeholder 5">
            <a:extLst>
              <a:ext uri="{FF2B5EF4-FFF2-40B4-BE49-F238E27FC236}">
                <a16:creationId xmlns:a16="http://schemas.microsoft.com/office/drawing/2014/main" id="{C6BB8DA5-086A-AF05-8B5C-9E4392D8DC9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0F4DDF-D23D-7B1E-AA74-A190E304EE06}"/>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2359480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EE051-A02A-4AE3-1DD3-2F99872A7C6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24971E1-82D2-4827-7B57-D562B168D0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D880BA-26DC-D8C0-FC1F-0F51C6EA38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E86A124-B6C9-4D23-851C-C42BAEC338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FDB5B1-72A8-206B-C738-3D59E040E9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E5C0FD5-7A54-F28E-8144-1C4C27971F5D}"/>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8" name="Footer Placeholder 7">
            <a:extLst>
              <a:ext uri="{FF2B5EF4-FFF2-40B4-BE49-F238E27FC236}">
                <a16:creationId xmlns:a16="http://schemas.microsoft.com/office/drawing/2014/main" id="{8C345B13-C755-AF7D-D9DB-9F80B7DE40D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2283812-B1F5-19C6-07E9-673BCCA608D0}"/>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489076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F26DB-571A-0CA5-ADCB-A257728944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803ECD0-8658-BF92-C5AE-DB0C2C61619D}"/>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4" name="Footer Placeholder 3">
            <a:extLst>
              <a:ext uri="{FF2B5EF4-FFF2-40B4-BE49-F238E27FC236}">
                <a16:creationId xmlns:a16="http://schemas.microsoft.com/office/drawing/2014/main" id="{8F4E7A06-CEA7-DEEA-AFC6-043026B9ADA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155799D-6DB4-0371-ECFD-DC2668817895}"/>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354572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CFD977-AE5B-2D16-6D1B-9F2BC6328BBE}"/>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3" name="Footer Placeholder 2">
            <a:extLst>
              <a:ext uri="{FF2B5EF4-FFF2-40B4-BE49-F238E27FC236}">
                <a16:creationId xmlns:a16="http://schemas.microsoft.com/office/drawing/2014/main" id="{9FDCC66C-DAC2-E7DE-DD4F-45CF283F8D7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ED9BCC9-FAA1-4049-479B-EB4E90CDA61F}"/>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331131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E4CDD-F9A6-C3CC-1241-4D65ABDB2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1FD9BED-ECCD-30C4-9A88-B98EC46F9C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12C9EFB-3BEF-F77D-32A3-257FC7537B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696DB7-603D-0597-CB0B-A2563D73FA1B}"/>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6" name="Footer Placeholder 5">
            <a:extLst>
              <a:ext uri="{FF2B5EF4-FFF2-40B4-BE49-F238E27FC236}">
                <a16:creationId xmlns:a16="http://schemas.microsoft.com/office/drawing/2014/main" id="{A8E693B7-98C0-3DC4-6C6E-A1D7708C0B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78F7D9-DD8A-BF38-EDB5-E36436C8CF9E}"/>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2886348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F050-65E4-66BF-3853-E9274B39E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449EB2A-EC01-8099-BD60-219851BFB3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85C1026-954B-91FA-AEFC-0BCAAE043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ED857-4EB8-C499-5BB7-DD0C6E602BA2}"/>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6" name="Footer Placeholder 5">
            <a:extLst>
              <a:ext uri="{FF2B5EF4-FFF2-40B4-BE49-F238E27FC236}">
                <a16:creationId xmlns:a16="http://schemas.microsoft.com/office/drawing/2014/main" id="{64A6B9A0-3FD3-3F16-F055-E5ABD9B29D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7E2C05-8319-5991-9261-C1CC8266B4AB}"/>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160735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F285-9EF7-C349-6C6E-B7B6E1576F2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4FB11FF-B33C-DE77-94A5-FFB6F26971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0A0225-A9AC-2380-DF90-4744D6DBC32B}"/>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5" name="Footer Placeholder 4">
            <a:extLst>
              <a:ext uri="{FF2B5EF4-FFF2-40B4-BE49-F238E27FC236}">
                <a16:creationId xmlns:a16="http://schemas.microsoft.com/office/drawing/2014/main" id="{86659AD6-73FE-2541-5070-FB56038147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E78B3E-73F6-D8C0-4338-B627858039E2}"/>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119712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097DF1-64DE-BA51-C92C-8A1D5495C7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AC3299C-651E-EB73-0792-F0A49055D5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754CEE-5EED-0D5F-F1AE-0FA0F4FCFEB8}"/>
              </a:ext>
            </a:extLst>
          </p:cNvPr>
          <p:cNvSpPr>
            <a:spLocks noGrp="1"/>
          </p:cNvSpPr>
          <p:nvPr>
            <p:ph type="dt" sz="half" idx="10"/>
          </p:nvPr>
        </p:nvSpPr>
        <p:spPr/>
        <p:txBody>
          <a:bodyPr/>
          <a:lstStyle/>
          <a:p>
            <a:fld id="{451CA99F-A81B-44B7-ADD5-8B99C5692399}" type="datetimeFigureOut">
              <a:rPr lang="en-GB" smtClean="0"/>
              <a:t>19/06/2024</a:t>
            </a:fld>
            <a:endParaRPr lang="en-GB"/>
          </a:p>
        </p:txBody>
      </p:sp>
      <p:sp>
        <p:nvSpPr>
          <p:cNvPr id="5" name="Footer Placeholder 4">
            <a:extLst>
              <a:ext uri="{FF2B5EF4-FFF2-40B4-BE49-F238E27FC236}">
                <a16:creationId xmlns:a16="http://schemas.microsoft.com/office/drawing/2014/main" id="{5A30CEC2-1515-BC5E-C7C0-0E50BF86424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EDC29F-FE34-343C-40E7-9A724596154F}"/>
              </a:ext>
            </a:extLst>
          </p:cNvPr>
          <p:cNvSpPr>
            <a:spLocks noGrp="1"/>
          </p:cNvSpPr>
          <p:nvPr>
            <p:ph type="sldNum" sz="quarter" idx="12"/>
          </p:nvPr>
        </p:nvSpPr>
        <p:spPr/>
        <p:txBody>
          <a:bodyPr/>
          <a:lstStyle/>
          <a:p>
            <a:fld id="{2A381A1C-F2BB-4EC3-AD6B-B0E3EE011959}" type="slidenum">
              <a:rPr lang="en-GB" smtClean="0"/>
              <a:t>‹#›</a:t>
            </a:fld>
            <a:endParaRPr lang="en-GB"/>
          </a:p>
        </p:txBody>
      </p:sp>
    </p:spTree>
    <p:extLst>
      <p:ext uri="{BB962C8B-B14F-4D97-AF65-F5344CB8AC3E}">
        <p14:creationId xmlns:p14="http://schemas.microsoft.com/office/powerpoint/2010/main" val="3308287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ADFDC47-5B31-4028-0A2C-CE4D4D6B0A3D}"/>
              </a:ext>
            </a:extLst>
          </p:cNvPr>
          <p:cNvGraphicFramePr>
            <a:graphicFrameLocks noChangeAspect="1"/>
          </p:cNvGraphicFramePr>
          <p:nvPr userDrawn="1">
            <p:custDataLst>
              <p:tags r:id="rId13"/>
            </p:custDataLst>
            <p:extLst>
              <p:ext uri="{D42A27DB-BD31-4B8C-83A1-F6EECF244321}">
                <p14:modId xmlns:p14="http://schemas.microsoft.com/office/powerpoint/2010/main" val="4056565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592" imgH="591" progId="TCLayout.ActiveDocument.1">
                  <p:embed/>
                </p:oleObj>
              </mc:Choice>
              <mc:Fallback>
                <p:oleObj name="think-cell Slide" r:id="rId14" imgW="592" imgH="591" progId="TCLayout.ActiveDocument.1">
                  <p:embed/>
                  <p:pic>
                    <p:nvPicPr>
                      <p:cNvPr id="8" name="think-cell data - do not delete" hidden="1">
                        <a:extLst>
                          <a:ext uri="{FF2B5EF4-FFF2-40B4-BE49-F238E27FC236}">
                            <a16:creationId xmlns:a16="http://schemas.microsoft.com/office/drawing/2014/main" id="{7ADFDC47-5B31-4028-0A2C-CE4D4D6B0A3D}"/>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3080811B-8906-17A2-AC5B-09FA8E1C67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843B153-8428-55E0-612C-6DE40B155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1D1863-9715-9851-1B4E-BAB68CA912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1CA99F-A81B-44B7-ADD5-8B99C5692399}" type="datetimeFigureOut">
              <a:rPr lang="en-GB" smtClean="0"/>
              <a:t>19/06/2024</a:t>
            </a:fld>
            <a:endParaRPr lang="en-GB"/>
          </a:p>
        </p:txBody>
      </p:sp>
      <p:sp>
        <p:nvSpPr>
          <p:cNvPr id="5" name="Footer Placeholder 4">
            <a:extLst>
              <a:ext uri="{FF2B5EF4-FFF2-40B4-BE49-F238E27FC236}">
                <a16:creationId xmlns:a16="http://schemas.microsoft.com/office/drawing/2014/main" id="{AC550443-C133-E2B9-5FFC-F94170B255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E54D95F-EB0C-5A3B-CC7E-5062257A8B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381A1C-F2BB-4EC3-AD6B-B0E3EE011959}" type="slidenum">
              <a:rPr lang="en-GB" smtClean="0"/>
              <a:t>‹#›</a:t>
            </a:fld>
            <a:endParaRPr lang="en-GB"/>
          </a:p>
        </p:txBody>
      </p:sp>
    </p:spTree>
    <p:extLst>
      <p:ext uri="{BB962C8B-B14F-4D97-AF65-F5344CB8AC3E}">
        <p14:creationId xmlns:p14="http://schemas.microsoft.com/office/powerpoint/2010/main" val="2797166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26" Type="http://schemas.openxmlformats.org/officeDocument/2006/relationships/slideLayout" Target="../slideLayouts/slideLayout1.xml"/><Relationship Id="rId3" Type="http://schemas.openxmlformats.org/officeDocument/2006/relationships/tags" Target="../tags/tag8.xml"/><Relationship Id="rId21" Type="http://schemas.openxmlformats.org/officeDocument/2006/relationships/tags" Target="../tags/tag26.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tags" Target="../tags/tag30.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29" Type="http://schemas.openxmlformats.org/officeDocument/2006/relationships/chart" Target="../charts/chart3.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tags" Target="../tags/tag29.xml"/><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tags" Target="../tags/tag28.xml"/><Relationship Id="rId28" Type="http://schemas.openxmlformats.org/officeDocument/2006/relationships/image" Target="../media/image1.emf"/><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tags" Target="../tags/tag27.xml"/><Relationship Id="rId27" Type="http://schemas.openxmlformats.org/officeDocument/2006/relationships/oleObject" Target="../embeddings/oleObject5.bin"/><Relationship Id="rId30"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tags" Target="../tags/tag31.xml"/><Relationship Id="rId5" Type="http://schemas.openxmlformats.org/officeDocument/2006/relationships/chart" Target="../charts/chart5.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9E9189-1167-C0F0-D2E2-1D8DD22C3FAB}"/>
              </a:ext>
            </a:extLst>
          </p:cNvPr>
          <p:cNvGraphicFramePr>
            <a:graphicFrameLocks noChangeAspect="1"/>
          </p:cNvGraphicFramePr>
          <p:nvPr>
            <p:custDataLst>
              <p:tags r:id="rId1"/>
            </p:custDataLst>
            <p:extLst>
              <p:ext uri="{D42A27DB-BD31-4B8C-83A1-F6EECF244321}">
                <p14:modId xmlns:p14="http://schemas.microsoft.com/office/powerpoint/2010/main" val="27777031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think-cell data - do not delete" hidden="1">
                        <a:extLst>
                          <a:ext uri="{FF2B5EF4-FFF2-40B4-BE49-F238E27FC236}">
                            <a16:creationId xmlns:a16="http://schemas.microsoft.com/office/drawing/2014/main" id="{B69E9189-1167-C0F0-D2E2-1D8DD22C3F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306F8DD-9391-2D70-743F-2E78459E0B07}"/>
              </a:ext>
            </a:extLst>
          </p:cNvPr>
          <p:cNvSpPr>
            <a:spLocks noGrp="1"/>
          </p:cNvSpPr>
          <p:nvPr>
            <p:ph type="ctrTitle"/>
          </p:nvPr>
        </p:nvSpPr>
        <p:spPr>
          <a:xfrm>
            <a:off x="1524000" y="656948"/>
            <a:ext cx="9144000" cy="2853015"/>
          </a:xfrm>
        </p:spPr>
        <p:txBody>
          <a:bodyPr vert="horz">
            <a:normAutofit/>
          </a:bodyPr>
          <a:lstStyle/>
          <a:p>
            <a:r>
              <a:rPr lang="en-GB" sz="7200" b="1" dirty="0"/>
              <a:t>Customer Feedback Presentation</a:t>
            </a:r>
          </a:p>
        </p:txBody>
      </p:sp>
      <p:sp>
        <p:nvSpPr>
          <p:cNvPr id="3" name="Subtitle 2">
            <a:extLst>
              <a:ext uri="{FF2B5EF4-FFF2-40B4-BE49-F238E27FC236}">
                <a16:creationId xmlns:a16="http://schemas.microsoft.com/office/drawing/2014/main" id="{5D9D5117-068C-7002-25DF-1AF0269EC144}"/>
              </a:ext>
            </a:extLst>
          </p:cNvPr>
          <p:cNvSpPr>
            <a:spLocks noGrp="1"/>
          </p:cNvSpPr>
          <p:nvPr>
            <p:ph type="subTitle" idx="1"/>
          </p:nvPr>
        </p:nvSpPr>
        <p:spPr>
          <a:xfrm>
            <a:off x="1524000" y="4474349"/>
            <a:ext cx="9144000" cy="783450"/>
          </a:xfrm>
        </p:spPr>
        <p:txBody>
          <a:bodyPr>
            <a:normAutofit/>
          </a:bodyPr>
          <a:lstStyle/>
          <a:p>
            <a:r>
              <a:rPr lang="en-GB" sz="1400" dirty="0"/>
              <a:t>Created By Mohammed Afzal</a:t>
            </a:r>
          </a:p>
          <a:p>
            <a:r>
              <a:rPr lang="en-GB" sz="1400" dirty="0"/>
              <a:t>June 2024</a:t>
            </a:r>
          </a:p>
        </p:txBody>
      </p:sp>
      <p:cxnSp>
        <p:nvCxnSpPr>
          <p:cNvPr id="9" name="Straight Connector 8">
            <a:extLst>
              <a:ext uri="{FF2B5EF4-FFF2-40B4-BE49-F238E27FC236}">
                <a16:creationId xmlns:a16="http://schemas.microsoft.com/office/drawing/2014/main" id="{EFF9E90F-0CE6-D3FA-779A-6A0441F58F69}"/>
              </a:ext>
            </a:extLst>
          </p:cNvPr>
          <p:cNvCxnSpPr/>
          <p:nvPr/>
        </p:nvCxnSpPr>
        <p:spPr>
          <a:xfrm>
            <a:off x="1524000" y="3694922"/>
            <a:ext cx="9066245" cy="0"/>
          </a:xfrm>
          <a:prstGeom prst="line">
            <a:avLst/>
          </a:prstGeom>
          <a:ln w="762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3905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9E9189-1167-C0F0-D2E2-1D8DD22C3FAB}"/>
              </a:ext>
            </a:extLst>
          </p:cNvPr>
          <p:cNvGraphicFramePr>
            <a:graphicFrameLocks noChangeAspect="1"/>
          </p:cNvGraphicFramePr>
          <p:nvPr>
            <p:custDataLst>
              <p:tags r:id="rId1"/>
            </p:custDataLst>
            <p:extLst>
              <p:ext uri="{D42A27DB-BD31-4B8C-83A1-F6EECF244321}">
                <p14:modId xmlns:p14="http://schemas.microsoft.com/office/powerpoint/2010/main" val="3377215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think-cell data - do not delete" hidden="1">
                        <a:extLst>
                          <a:ext uri="{FF2B5EF4-FFF2-40B4-BE49-F238E27FC236}">
                            <a16:creationId xmlns:a16="http://schemas.microsoft.com/office/drawing/2014/main" id="{B69E9189-1167-C0F0-D2E2-1D8DD22C3F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9" name="Straight Connector 8">
            <a:extLst>
              <a:ext uri="{FF2B5EF4-FFF2-40B4-BE49-F238E27FC236}">
                <a16:creationId xmlns:a16="http://schemas.microsoft.com/office/drawing/2014/main" id="{EFF9E90F-0CE6-D3FA-779A-6A0441F58F69}"/>
              </a:ext>
            </a:extLst>
          </p:cNvPr>
          <p:cNvCxnSpPr>
            <a:cxnSpLocks/>
          </p:cNvCxnSpPr>
          <p:nvPr/>
        </p:nvCxnSpPr>
        <p:spPr>
          <a:xfrm>
            <a:off x="201227" y="694270"/>
            <a:ext cx="11579441" cy="0"/>
          </a:xfrm>
          <a:prstGeom prst="line">
            <a:avLst/>
          </a:prstGeom>
          <a:ln/>
        </p:spPr>
        <p:style>
          <a:lnRef idx="3">
            <a:schemeClr val="accent1"/>
          </a:lnRef>
          <a:fillRef idx="0">
            <a:schemeClr val="accent1"/>
          </a:fillRef>
          <a:effectRef idx="2">
            <a:schemeClr val="accent1"/>
          </a:effectRef>
          <a:fontRef idx="minor">
            <a:schemeClr val="tx1"/>
          </a:fontRef>
        </p:style>
      </p:cxnSp>
      <p:sp>
        <p:nvSpPr>
          <p:cNvPr id="12" name="TextBox 11">
            <a:extLst>
              <a:ext uri="{FF2B5EF4-FFF2-40B4-BE49-F238E27FC236}">
                <a16:creationId xmlns:a16="http://schemas.microsoft.com/office/drawing/2014/main" id="{B8EB91FD-9752-28C6-1036-F0AA02A4DC4D}"/>
              </a:ext>
            </a:extLst>
          </p:cNvPr>
          <p:cNvSpPr txBox="1"/>
          <p:nvPr/>
        </p:nvSpPr>
        <p:spPr>
          <a:xfrm>
            <a:off x="201227" y="124287"/>
            <a:ext cx="3536272" cy="461665"/>
          </a:xfrm>
          <a:prstGeom prst="rect">
            <a:avLst/>
          </a:prstGeom>
          <a:noFill/>
        </p:spPr>
        <p:txBody>
          <a:bodyPr wrap="square" rtlCol="0">
            <a:spAutoFit/>
          </a:bodyPr>
          <a:lstStyle/>
          <a:p>
            <a:r>
              <a:rPr lang="en-GB" sz="2400" b="1" dirty="0"/>
              <a:t>Content</a:t>
            </a:r>
          </a:p>
        </p:txBody>
      </p:sp>
      <p:sp>
        <p:nvSpPr>
          <p:cNvPr id="13" name="TextBox 12">
            <a:extLst>
              <a:ext uri="{FF2B5EF4-FFF2-40B4-BE49-F238E27FC236}">
                <a16:creationId xmlns:a16="http://schemas.microsoft.com/office/drawing/2014/main" id="{85282B84-AB6A-F57F-ACD7-CE1EE208A329}"/>
              </a:ext>
            </a:extLst>
          </p:cNvPr>
          <p:cNvSpPr txBox="1"/>
          <p:nvPr/>
        </p:nvSpPr>
        <p:spPr>
          <a:xfrm>
            <a:off x="1269507" y="1509204"/>
            <a:ext cx="9987378" cy="1384995"/>
          </a:xfrm>
          <a:prstGeom prst="rect">
            <a:avLst/>
          </a:prstGeom>
          <a:noFill/>
        </p:spPr>
        <p:txBody>
          <a:bodyPr wrap="square" rtlCol="0">
            <a:spAutoFit/>
          </a:bodyPr>
          <a:lstStyle/>
          <a:p>
            <a:r>
              <a:rPr lang="en-GB" sz="2800" dirty="0"/>
              <a:t> - Data Sets</a:t>
            </a:r>
          </a:p>
          <a:p>
            <a:r>
              <a:rPr lang="en-GB" sz="2800" dirty="0"/>
              <a:t> - Insights &amp; Analysis</a:t>
            </a:r>
          </a:p>
          <a:p>
            <a:r>
              <a:rPr lang="en-GB" sz="2800" dirty="0"/>
              <a:t> - How to improve customer service in Estates and Facilities</a:t>
            </a:r>
          </a:p>
        </p:txBody>
      </p:sp>
    </p:spTree>
    <p:extLst>
      <p:ext uri="{BB962C8B-B14F-4D97-AF65-F5344CB8AC3E}">
        <p14:creationId xmlns:p14="http://schemas.microsoft.com/office/powerpoint/2010/main" val="1576807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9E9189-1167-C0F0-D2E2-1D8DD22C3FA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think-cell data - do not delete" hidden="1">
                        <a:extLst>
                          <a:ext uri="{FF2B5EF4-FFF2-40B4-BE49-F238E27FC236}">
                            <a16:creationId xmlns:a16="http://schemas.microsoft.com/office/drawing/2014/main" id="{B69E9189-1167-C0F0-D2E2-1D8DD22C3F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9" name="Straight Connector 8">
            <a:extLst>
              <a:ext uri="{FF2B5EF4-FFF2-40B4-BE49-F238E27FC236}">
                <a16:creationId xmlns:a16="http://schemas.microsoft.com/office/drawing/2014/main" id="{EFF9E90F-0CE6-D3FA-779A-6A0441F58F69}"/>
              </a:ext>
            </a:extLst>
          </p:cNvPr>
          <p:cNvCxnSpPr>
            <a:cxnSpLocks/>
          </p:cNvCxnSpPr>
          <p:nvPr/>
        </p:nvCxnSpPr>
        <p:spPr>
          <a:xfrm>
            <a:off x="201227" y="694270"/>
            <a:ext cx="11579441" cy="0"/>
          </a:xfrm>
          <a:prstGeom prst="line">
            <a:avLst/>
          </a:prstGeom>
          <a:ln/>
        </p:spPr>
        <p:style>
          <a:lnRef idx="3">
            <a:schemeClr val="accent1"/>
          </a:lnRef>
          <a:fillRef idx="0">
            <a:schemeClr val="accent1"/>
          </a:fillRef>
          <a:effectRef idx="2">
            <a:schemeClr val="accent1"/>
          </a:effectRef>
          <a:fontRef idx="minor">
            <a:schemeClr val="tx1"/>
          </a:fontRef>
        </p:style>
      </p:cxnSp>
      <p:sp>
        <p:nvSpPr>
          <p:cNvPr id="12" name="TextBox 11">
            <a:extLst>
              <a:ext uri="{FF2B5EF4-FFF2-40B4-BE49-F238E27FC236}">
                <a16:creationId xmlns:a16="http://schemas.microsoft.com/office/drawing/2014/main" id="{B8EB91FD-9752-28C6-1036-F0AA02A4DC4D}"/>
              </a:ext>
            </a:extLst>
          </p:cNvPr>
          <p:cNvSpPr txBox="1"/>
          <p:nvPr/>
        </p:nvSpPr>
        <p:spPr>
          <a:xfrm>
            <a:off x="201227" y="88775"/>
            <a:ext cx="11579440" cy="646331"/>
          </a:xfrm>
          <a:prstGeom prst="rect">
            <a:avLst/>
          </a:prstGeom>
          <a:noFill/>
        </p:spPr>
        <p:txBody>
          <a:bodyPr wrap="square" rtlCol="0">
            <a:spAutoFit/>
          </a:bodyPr>
          <a:lstStyle/>
          <a:p>
            <a:r>
              <a:rPr lang="en-GB" b="1" dirty="0"/>
              <a:t>The data consists of 117 different records pertaining to work carried out at the University, where it took place and the customer satisfaction. Of the 177 respondents, 68 are unique, this represents 58%.</a:t>
            </a:r>
          </a:p>
        </p:txBody>
      </p:sp>
      <p:sp>
        <p:nvSpPr>
          <p:cNvPr id="13" name="TextBox 12">
            <a:extLst>
              <a:ext uri="{FF2B5EF4-FFF2-40B4-BE49-F238E27FC236}">
                <a16:creationId xmlns:a16="http://schemas.microsoft.com/office/drawing/2014/main" id="{85282B84-AB6A-F57F-ACD7-CE1EE208A329}"/>
              </a:ext>
            </a:extLst>
          </p:cNvPr>
          <p:cNvSpPr txBox="1"/>
          <p:nvPr/>
        </p:nvSpPr>
        <p:spPr>
          <a:xfrm>
            <a:off x="201227" y="1085458"/>
            <a:ext cx="4894880" cy="738664"/>
          </a:xfrm>
          <a:prstGeom prst="rect">
            <a:avLst/>
          </a:prstGeom>
          <a:noFill/>
        </p:spPr>
        <p:txBody>
          <a:bodyPr wrap="square" rtlCol="0">
            <a:spAutoFit/>
          </a:bodyPr>
          <a:lstStyle/>
          <a:p>
            <a:r>
              <a:rPr lang="en-GB" sz="1400" dirty="0"/>
              <a:t>Work was carried out at 8 different sites across the University. Majority of the works was across 3 main sites – Strand Campus, Guys Campus and Denmark Hill Campus. </a:t>
            </a:r>
          </a:p>
        </p:txBody>
      </p:sp>
      <p:graphicFrame>
        <p:nvGraphicFramePr>
          <p:cNvPr id="2" name="Chart 1">
            <a:extLst>
              <a:ext uri="{FF2B5EF4-FFF2-40B4-BE49-F238E27FC236}">
                <a16:creationId xmlns:a16="http://schemas.microsoft.com/office/drawing/2014/main" id="{235F5CB8-8760-96FE-B9F2-C0B9DB7B79C5}"/>
              </a:ext>
            </a:extLst>
          </p:cNvPr>
          <p:cNvGraphicFramePr>
            <a:graphicFrameLocks/>
          </p:cNvGraphicFramePr>
          <p:nvPr>
            <p:extLst>
              <p:ext uri="{D42A27DB-BD31-4B8C-83A1-F6EECF244321}">
                <p14:modId xmlns:p14="http://schemas.microsoft.com/office/powerpoint/2010/main" val="2767406347"/>
              </p:ext>
            </p:extLst>
          </p:nvPr>
        </p:nvGraphicFramePr>
        <p:xfrm>
          <a:off x="201227" y="2081560"/>
          <a:ext cx="5200650" cy="381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 name="Chart 2">
            <a:extLst>
              <a:ext uri="{FF2B5EF4-FFF2-40B4-BE49-F238E27FC236}">
                <a16:creationId xmlns:a16="http://schemas.microsoft.com/office/drawing/2014/main" id="{D9ACB730-4220-520A-708E-DF6DD2A14221}"/>
              </a:ext>
            </a:extLst>
          </p:cNvPr>
          <p:cNvGraphicFramePr>
            <a:graphicFrameLocks/>
          </p:cNvGraphicFramePr>
          <p:nvPr>
            <p:extLst>
              <p:ext uri="{D42A27DB-BD31-4B8C-83A1-F6EECF244321}">
                <p14:modId xmlns:p14="http://schemas.microsoft.com/office/powerpoint/2010/main" val="3039407977"/>
              </p:ext>
            </p:extLst>
          </p:nvPr>
        </p:nvGraphicFramePr>
        <p:xfrm>
          <a:off x="6315308" y="2014885"/>
          <a:ext cx="5181600" cy="3876676"/>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a:extLst>
              <a:ext uri="{FF2B5EF4-FFF2-40B4-BE49-F238E27FC236}">
                <a16:creationId xmlns:a16="http://schemas.microsoft.com/office/drawing/2014/main" id="{5073E8CC-C35F-6155-8822-CB0F191901E7}"/>
              </a:ext>
            </a:extLst>
          </p:cNvPr>
          <p:cNvSpPr txBox="1"/>
          <p:nvPr/>
        </p:nvSpPr>
        <p:spPr>
          <a:xfrm>
            <a:off x="6613179" y="1085531"/>
            <a:ext cx="4894880" cy="738664"/>
          </a:xfrm>
          <a:prstGeom prst="rect">
            <a:avLst/>
          </a:prstGeom>
          <a:noFill/>
        </p:spPr>
        <p:txBody>
          <a:bodyPr wrap="square" rtlCol="0">
            <a:spAutoFit/>
          </a:bodyPr>
          <a:lstStyle/>
          <a:p>
            <a:r>
              <a:rPr lang="en-GB" sz="1400" dirty="0"/>
              <a:t>83% of the works is across Hard and Soft Services. The higher amount being against Hard Services, which includes Lighting, Plumbing and Decorating.</a:t>
            </a:r>
          </a:p>
        </p:txBody>
      </p:sp>
      <p:sp>
        <p:nvSpPr>
          <p:cNvPr id="6" name="TextBox 5">
            <a:extLst>
              <a:ext uri="{FF2B5EF4-FFF2-40B4-BE49-F238E27FC236}">
                <a16:creationId xmlns:a16="http://schemas.microsoft.com/office/drawing/2014/main" id="{14615448-8F5D-D5BF-3BB1-F0E93BA9906A}"/>
              </a:ext>
            </a:extLst>
          </p:cNvPr>
          <p:cNvSpPr txBox="1"/>
          <p:nvPr/>
        </p:nvSpPr>
        <p:spPr>
          <a:xfrm>
            <a:off x="284085" y="6249880"/>
            <a:ext cx="11301274" cy="523220"/>
          </a:xfrm>
          <a:prstGeom prst="rect">
            <a:avLst/>
          </a:prstGeom>
          <a:noFill/>
        </p:spPr>
        <p:txBody>
          <a:bodyPr wrap="square" rtlCol="0">
            <a:spAutoFit/>
          </a:bodyPr>
          <a:lstStyle/>
          <a:p>
            <a:r>
              <a:rPr lang="en-GB" sz="1400" dirty="0"/>
              <a:t>The data here can be improved by making sure an equal or at least higher number of entries/feedback across all locations and across all Types of Work – for example, Only 1 for Security or 5 for Residences.</a:t>
            </a:r>
          </a:p>
        </p:txBody>
      </p:sp>
    </p:spTree>
    <p:extLst>
      <p:ext uri="{BB962C8B-B14F-4D97-AF65-F5344CB8AC3E}">
        <p14:creationId xmlns:p14="http://schemas.microsoft.com/office/powerpoint/2010/main" val="9999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9E9189-1167-C0F0-D2E2-1D8DD22C3FAB}"/>
              </a:ext>
            </a:extLst>
          </p:cNvPr>
          <p:cNvGraphicFramePr>
            <a:graphicFrameLocks noChangeAspect="1"/>
          </p:cNvGraphicFramePr>
          <p:nvPr>
            <p:custDataLst>
              <p:tags r:id="rId1"/>
            </p:custDataLst>
            <p:extLst>
              <p:ext uri="{D42A27DB-BD31-4B8C-83A1-F6EECF244321}">
                <p14:modId xmlns:p14="http://schemas.microsoft.com/office/powerpoint/2010/main" val="12218973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592" imgH="591" progId="TCLayout.ActiveDocument.1">
                  <p:embed/>
                </p:oleObj>
              </mc:Choice>
              <mc:Fallback>
                <p:oleObj name="think-cell Slide" r:id="rId27" imgW="592" imgH="591" progId="TCLayout.ActiveDocument.1">
                  <p:embed/>
                  <p:pic>
                    <p:nvPicPr>
                      <p:cNvPr id="5" name="think-cell data - do not delete" hidden="1">
                        <a:extLst>
                          <a:ext uri="{FF2B5EF4-FFF2-40B4-BE49-F238E27FC236}">
                            <a16:creationId xmlns:a16="http://schemas.microsoft.com/office/drawing/2014/main" id="{B69E9189-1167-C0F0-D2E2-1D8DD22C3FA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cxnSp>
        <p:nvCxnSpPr>
          <p:cNvPr id="9" name="Straight Connector 8">
            <a:extLst>
              <a:ext uri="{FF2B5EF4-FFF2-40B4-BE49-F238E27FC236}">
                <a16:creationId xmlns:a16="http://schemas.microsoft.com/office/drawing/2014/main" id="{EFF9E90F-0CE6-D3FA-779A-6A0441F58F69}"/>
              </a:ext>
            </a:extLst>
          </p:cNvPr>
          <p:cNvCxnSpPr>
            <a:cxnSpLocks/>
          </p:cNvCxnSpPr>
          <p:nvPr/>
        </p:nvCxnSpPr>
        <p:spPr>
          <a:xfrm>
            <a:off x="201227" y="694270"/>
            <a:ext cx="11579441" cy="0"/>
          </a:xfrm>
          <a:prstGeom prst="line">
            <a:avLst/>
          </a:prstGeom>
          <a:ln/>
        </p:spPr>
        <p:style>
          <a:lnRef idx="3">
            <a:schemeClr val="accent1"/>
          </a:lnRef>
          <a:fillRef idx="0">
            <a:schemeClr val="accent1"/>
          </a:fillRef>
          <a:effectRef idx="2">
            <a:schemeClr val="accent1"/>
          </a:effectRef>
          <a:fontRef idx="minor">
            <a:schemeClr val="tx1"/>
          </a:fontRef>
        </p:style>
      </p:cxnSp>
      <p:sp>
        <p:nvSpPr>
          <p:cNvPr id="12" name="TextBox 11">
            <a:extLst>
              <a:ext uri="{FF2B5EF4-FFF2-40B4-BE49-F238E27FC236}">
                <a16:creationId xmlns:a16="http://schemas.microsoft.com/office/drawing/2014/main" id="{B8EB91FD-9752-28C6-1036-F0AA02A4DC4D}"/>
              </a:ext>
            </a:extLst>
          </p:cNvPr>
          <p:cNvSpPr txBox="1"/>
          <p:nvPr/>
        </p:nvSpPr>
        <p:spPr>
          <a:xfrm>
            <a:off x="201227" y="88775"/>
            <a:ext cx="11579440" cy="646331"/>
          </a:xfrm>
          <a:prstGeom prst="rect">
            <a:avLst/>
          </a:prstGeom>
          <a:noFill/>
        </p:spPr>
        <p:txBody>
          <a:bodyPr wrap="square" rtlCol="0">
            <a:spAutoFit/>
          </a:bodyPr>
          <a:lstStyle/>
          <a:p>
            <a:r>
              <a:rPr lang="en-GB" b="1" dirty="0"/>
              <a:t>From the surveys, key analysis and Insights can be derived. The satisfaction levels are key to understanding if a good output is being produced and if there is indeed customer satisfaction. </a:t>
            </a:r>
          </a:p>
        </p:txBody>
      </p:sp>
      <p:sp>
        <p:nvSpPr>
          <p:cNvPr id="13" name="TextBox 12">
            <a:extLst>
              <a:ext uri="{FF2B5EF4-FFF2-40B4-BE49-F238E27FC236}">
                <a16:creationId xmlns:a16="http://schemas.microsoft.com/office/drawing/2014/main" id="{85282B84-AB6A-F57F-ACD7-CE1EE208A329}"/>
              </a:ext>
            </a:extLst>
          </p:cNvPr>
          <p:cNvSpPr txBox="1"/>
          <p:nvPr/>
        </p:nvSpPr>
        <p:spPr>
          <a:xfrm>
            <a:off x="5341434" y="1085458"/>
            <a:ext cx="6439231" cy="1815882"/>
          </a:xfrm>
          <a:prstGeom prst="rect">
            <a:avLst/>
          </a:prstGeom>
          <a:noFill/>
        </p:spPr>
        <p:txBody>
          <a:bodyPr wrap="square" rtlCol="0">
            <a:spAutoFit/>
          </a:bodyPr>
          <a:lstStyle/>
          <a:p>
            <a:pPr marL="285750" indent="-285750">
              <a:buFont typeface="Arial" panose="020B0604020202020204" pitchFamily="34" charset="0"/>
              <a:buChar char="•"/>
            </a:pPr>
            <a:r>
              <a:rPr lang="en-GB" sz="1400" dirty="0"/>
              <a:t>82% of the respondents were satisfied with the time it took to complete.</a:t>
            </a:r>
          </a:p>
          <a:p>
            <a:pPr marL="285750" indent="-285750">
              <a:buFont typeface="Arial" panose="020B0604020202020204" pitchFamily="34" charset="0"/>
              <a:buChar char="•"/>
            </a:pPr>
            <a:r>
              <a:rPr lang="en-GB" sz="1400" dirty="0"/>
              <a:t>83% of the respondents are likely to recommend this services to others</a:t>
            </a:r>
          </a:p>
          <a:p>
            <a:pPr marL="285750" indent="-285750">
              <a:buFont typeface="Arial" panose="020B0604020202020204" pitchFamily="34" charset="0"/>
              <a:buChar char="•"/>
            </a:pPr>
            <a:r>
              <a:rPr lang="en-GB" sz="1400" dirty="0"/>
              <a:t>69% gave a 5 rating for deeming the team are committed to delivering outstanding service</a:t>
            </a:r>
          </a:p>
          <a:p>
            <a:pPr marL="285750" indent="-285750">
              <a:buFont typeface="Arial" panose="020B0604020202020204" pitchFamily="34" charset="0"/>
              <a:buChar char="•"/>
            </a:pPr>
            <a:r>
              <a:rPr lang="en-GB" sz="1400" b="1" dirty="0"/>
              <a:t>56% represents the NPS score</a:t>
            </a:r>
          </a:p>
          <a:p>
            <a:pPr marL="285750" indent="-285750">
              <a:buFont typeface="Arial" panose="020B0604020202020204" pitchFamily="34" charset="0"/>
              <a:buChar char="•"/>
            </a:pPr>
            <a:endParaRPr lang="en-GB" sz="1400" b="1" dirty="0"/>
          </a:p>
          <a:p>
            <a:pPr marL="285750" indent="-285750">
              <a:buFont typeface="Arial" panose="020B0604020202020204" pitchFamily="34" charset="0"/>
              <a:buChar char="•"/>
            </a:pPr>
            <a:endParaRPr lang="en-GB" sz="1400" b="1" dirty="0"/>
          </a:p>
          <a:p>
            <a:r>
              <a:rPr lang="en-GB" sz="1400" b="1" dirty="0"/>
              <a:t>Below, we have a view of NPS by Service</a:t>
            </a:r>
          </a:p>
        </p:txBody>
      </p:sp>
      <p:graphicFrame>
        <p:nvGraphicFramePr>
          <p:cNvPr id="76" name="Chart 75">
            <a:extLst>
              <a:ext uri="{FF2B5EF4-FFF2-40B4-BE49-F238E27FC236}">
                <a16:creationId xmlns:a16="http://schemas.microsoft.com/office/drawing/2014/main" id="{BBCD91A6-FDF2-BE3E-9A33-A71028D11154}"/>
              </a:ext>
            </a:extLst>
          </p:cNvPr>
          <p:cNvGraphicFramePr/>
          <p:nvPr>
            <p:custDataLst>
              <p:tags r:id="rId2"/>
            </p:custDataLst>
            <p:extLst>
              <p:ext uri="{D42A27DB-BD31-4B8C-83A1-F6EECF244321}">
                <p14:modId xmlns:p14="http://schemas.microsoft.com/office/powerpoint/2010/main" val="1622728009"/>
              </p:ext>
            </p:extLst>
          </p:nvPr>
        </p:nvGraphicFramePr>
        <p:xfrm>
          <a:off x="119063" y="1311275"/>
          <a:ext cx="3421062" cy="5340350"/>
        </p:xfrm>
        <a:graphic>
          <a:graphicData uri="http://schemas.openxmlformats.org/drawingml/2006/chart">
            <c:chart xmlns:c="http://schemas.openxmlformats.org/drawingml/2006/chart" xmlns:r="http://schemas.openxmlformats.org/officeDocument/2006/relationships" r:id="rId29"/>
          </a:graphicData>
        </a:graphic>
      </p:graphicFrame>
      <p:cxnSp>
        <p:nvCxnSpPr>
          <p:cNvPr id="44" name="Straight Connector 43">
            <a:extLst>
              <a:ext uri="{FF2B5EF4-FFF2-40B4-BE49-F238E27FC236}">
                <a16:creationId xmlns:a16="http://schemas.microsoft.com/office/drawing/2014/main" id="{1F2FDC30-091E-BDE6-F9E6-42C966996C4E}"/>
              </a:ext>
            </a:extLst>
          </p:cNvPr>
          <p:cNvCxnSpPr/>
          <p:nvPr>
            <p:custDataLst>
              <p:tags r:id="rId3"/>
            </p:custDataLst>
          </p:nvPr>
        </p:nvCxnSpPr>
        <p:spPr bwMode="auto">
          <a:xfrm flipH="1" flipV="1">
            <a:off x="2657475" y="1660524"/>
            <a:ext cx="98425" cy="52388"/>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Text Placeholder 2">
            <a:extLst>
              <a:ext uri="{FF2B5EF4-FFF2-40B4-BE49-F238E27FC236}">
                <a16:creationId xmlns:a16="http://schemas.microsoft.com/office/drawing/2014/main" id="{C843B153-8428-55E0-612C-6DE40B1557EB}"/>
              </a:ext>
            </a:extLst>
          </p:cNvPr>
          <p:cNvSpPr>
            <a:spLocks noGrp="1"/>
          </p:cNvSpPr>
          <p:nvPr>
            <p:custDataLst>
              <p:tags r:id="rId4"/>
            </p:custDataLst>
          </p:nvPr>
        </p:nvSpPr>
        <p:spPr bwMode="auto">
          <a:xfrm>
            <a:off x="1774825" y="6403975"/>
            <a:ext cx="1079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BA1E3BF-D675-4465-908C-824A6F6B7A63}" type="datetime'''''#'''''''''''''''''''''''''''''''''''''''''''">
              <a:rPr lang="en-GB" altLang="en-US" sz="1400" smtClean="0">
                <a:effectLst/>
              </a:rPr>
              <a:pPr marL="0" lvl="0" indent="0" algn="ctr">
                <a:spcBef>
                  <a:spcPct val="0"/>
                </a:spcBef>
                <a:spcAft>
                  <a:spcPct val="0"/>
                </a:spcAft>
                <a:buNone/>
              </a:pPr>
              <a:t>#</a:t>
            </a:fld>
            <a:endParaRPr lang="en-GB" sz="1400" dirty="0"/>
          </a:p>
        </p:txBody>
      </p:sp>
      <p:sp>
        <p:nvSpPr>
          <p:cNvPr id="38" name="Text Placeholder 2">
            <a:extLst>
              <a:ext uri="{FF2B5EF4-FFF2-40B4-BE49-F238E27FC236}">
                <a16:creationId xmlns:a16="http://schemas.microsoft.com/office/drawing/2014/main" id="{C843B153-8428-55E0-612C-6DE40B1557EB}"/>
              </a:ext>
            </a:extLst>
          </p:cNvPr>
          <p:cNvSpPr>
            <a:spLocks noGrp="1"/>
          </p:cNvSpPr>
          <p:nvPr>
            <p:custDataLst>
              <p:tags r:id="rId5"/>
            </p:custDataLst>
          </p:nvPr>
        </p:nvSpPr>
        <p:spPr bwMode="gray">
          <a:xfrm>
            <a:off x="2208213" y="1739900"/>
            <a:ext cx="146050" cy="192088"/>
          </a:xfrm>
          <a:prstGeom prst="rect">
            <a:avLst/>
          </a:prstGeom>
          <a:solidFill>
            <a:schemeClr val="accent3"/>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9C05FF0-6669-4CD6-80FA-526F6363EB4A}" type="datetime'''''''''''''''''''''''''''''''''''''''''''''''2'">
              <a:rPr lang="en-GB" altLang="en-US" sz="1400" smtClean="0">
                <a:solidFill>
                  <a:schemeClr val="bg1"/>
                </a:solidFill>
                <a:effectLst/>
              </a:rPr>
              <a:pPr marL="0" lvl="0" indent="0" algn="ctr">
                <a:spcBef>
                  <a:spcPct val="0"/>
                </a:spcBef>
                <a:spcAft>
                  <a:spcPct val="0"/>
                </a:spcAft>
                <a:buNone/>
              </a:pPr>
              <a:t>2</a:t>
            </a:fld>
            <a:endParaRPr lang="en-GB" sz="1400" dirty="0">
              <a:solidFill>
                <a:schemeClr val="bg1"/>
              </a:solidFill>
            </a:endParaRPr>
          </a:p>
        </p:txBody>
      </p:sp>
      <p:sp>
        <p:nvSpPr>
          <p:cNvPr id="65" name="Text Placeholder 2">
            <a:extLst>
              <a:ext uri="{FF2B5EF4-FFF2-40B4-BE49-F238E27FC236}">
                <a16:creationId xmlns:a16="http://schemas.microsoft.com/office/drawing/2014/main" id="{C843B153-8428-55E0-612C-6DE40B1557EB}"/>
              </a:ext>
            </a:extLst>
          </p:cNvPr>
          <p:cNvSpPr>
            <a:spLocks noGrp="1"/>
          </p:cNvSpPr>
          <p:nvPr>
            <p:custDataLst>
              <p:tags r:id="rId6"/>
            </p:custDataLst>
          </p:nvPr>
        </p:nvSpPr>
        <p:spPr bwMode="gray">
          <a:xfrm>
            <a:off x="1303338" y="1652588"/>
            <a:ext cx="146050" cy="192088"/>
          </a:xfrm>
          <a:prstGeom prst="rect">
            <a:avLst/>
          </a:prstGeom>
          <a:solidFill>
            <a:schemeClr val="accent2"/>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7FEE0217-DDD3-42B8-98D9-6E5F9765186C}" type="datetime'''''''''''''''''''2'''''''''''''''''''''''''''''''''''''''">
              <a:rPr lang="en-GB" altLang="en-US" sz="1400" smtClean="0">
                <a:solidFill>
                  <a:schemeClr val="bg1"/>
                </a:solidFill>
                <a:effectLst/>
              </a:rPr>
              <a:pPr marL="0" lvl="0" indent="0" algn="ctr">
                <a:spcBef>
                  <a:spcPct val="0"/>
                </a:spcBef>
                <a:spcAft>
                  <a:spcPct val="0"/>
                </a:spcAft>
                <a:buNone/>
              </a:pPr>
              <a:t>2</a:t>
            </a:fld>
            <a:endParaRPr lang="en-GB" sz="1400" dirty="0">
              <a:solidFill>
                <a:schemeClr val="bg1"/>
              </a:solidFill>
            </a:endParaRPr>
          </a:p>
        </p:txBody>
      </p:sp>
      <p:sp>
        <p:nvSpPr>
          <p:cNvPr id="67" name="Text Placeholder 2">
            <a:extLst>
              <a:ext uri="{FF2B5EF4-FFF2-40B4-BE49-F238E27FC236}">
                <a16:creationId xmlns:a16="http://schemas.microsoft.com/office/drawing/2014/main" id="{C843B153-8428-55E0-612C-6DE40B1557EB}"/>
              </a:ext>
            </a:extLst>
          </p:cNvPr>
          <p:cNvSpPr>
            <a:spLocks noGrp="1"/>
          </p:cNvSpPr>
          <p:nvPr>
            <p:custDataLst>
              <p:tags r:id="rId7"/>
            </p:custDataLst>
          </p:nvPr>
        </p:nvSpPr>
        <p:spPr bwMode="gray">
          <a:xfrm>
            <a:off x="2208213" y="1981200"/>
            <a:ext cx="146050" cy="192088"/>
          </a:xfrm>
          <a:prstGeom prst="rect">
            <a:avLst/>
          </a:prstGeom>
          <a:solidFill>
            <a:schemeClr val="accent5"/>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3DFC054-885E-4FB0-830D-E5C687C49F92}" type="datetime'''''''''1'''''''''''''''''''''''''''">
              <a:rPr lang="en-GB" altLang="en-US" sz="1400" smtClean="0">
                <a:solidFill>
                  <a:schemeClr val="bg1"/>
                </a:solidFill>
                <a:effectLst/>
              </a:rPr>
              <a:pPr marL="0" lvl="0" indent="0" algn="ctr">
                <a:spcBef>
                  <a:spcPct val="0"/>
                </a:spcBef>
                <a:spcAft>
                  <a:spcPct val="0"/>
                </a:spcAft>
                <a:buNone/>
              </a:pPr>
              <a:t>1</a:t>
            </a:fld>
            <a:endParaRPr lang="en-GB" sz="1400" dirty="0">
              <a:solidFill>
                <a:schemeClr val="bg1"/>
              </a:solidFill>
            </a:endParaRPr>
          </a:p>
        </p:txBody>
      </p:sp>
      <p:sp>
        <p:nvSpPr>
          <p:cNvPr id="56" name="Rectangle 55">
            <a:extLst>
              <a:ext uri="{FF2B5EF4-FFF2-40B4-BE49-F238E27FC236}">
                <a16:creationId xmlns:a16="http://schemas.microsoft.com/office/drawing/2014/main" id="{BE4728ED-BBF3-3649-5B73-F29D6BDD0D67}"/>
              </a:ext>
            </a:extLst>
          </p:cNvPr>
          <p:cNvSpPr/>
          <p:nvPr>
            <p:custDataLst>
              <p:tags r:id="rId8"/>
            </p:custDataLst>
          </p:nvPr>
        </p:nvSpPr>
        <p:spPr bwMode="auto">
          <a:xfrm>
            <a:off x="3319463" y="1689100"/>
            <a:ext cx="250825" cy="187325"/>
          </a:xfrm>
          <a:prstGeom prst="rect">
            <a:avLst/>
          </a:prstGeom>
          <a:solidFill>
            <a:schemeClr val="accent1"/>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717F8528-BD27-1775-1390-586BA4431351}"/>
              </a:ext>
            </a:extLst>
          </p:cNvPr>
          <p:cNvSpPr/>
          <p:nvPr>
            <p:custDataLst>
              <p:tags r:id="rId9"/>
            </p:custDataLst>
          </p:nvPr>
        </p:nvSpPr>
        <p:spPr bwMode="auto">
          <a:xfrm>
            <a:off x="3319463" y="1943100"/>
            <a:ext cx="250825" cy="187325"/>
          </a:xfrm>
          <a:prstGeom prst="rect">
            <a:avLst/>
          </a:prstGeom>
          <a:solidFill>
            <a:schemeClr val="accent2"/>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EDD3A882-10E0-E5F9-030E-43CD70E03E33}"/>
              </a:ext>
            </a:extLst>
          </p:cNvPr>
          <p:cNvSpPr/>
          <p:nvPr>
            <p:custDataLst>
              <p:tags r:id="rId10"/>
            </p:custDataLst>
          </p:nvPr>
        </p:nvSpPr>
        <p:spPr bwMode="auto">
          <a:xfrm>
            <a:off x="3319463" y="2197100"/>
            <a:ext cx="250825" cy="187325"/>
          </a:xfrm>
          <a:prstGeom prst="rect">
            <a:avLst/>
          </a:prstGeom>
          <a:solidFill>
            <a:schemeClr val="accent3"/>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EE86409C-BCC1-A374-69EE-27C606E8E014}"/>
              </a:ext>
            </a:extLst>
          </p:cNvPr>
          <p:cNvSpPr/>
          <p:nvPr>
            <p:custDataLst>
              <p:tags r:id="rId11"/>
            </p:custDataLst>
          </p:nvPr>
        </p:nvSpPr>
        <p:spPr bwMode="auto">
          <a:xfrm>
            <a:off x="3319463" y="2451100"/>
            <a:ext cx="250825" cy="187325"/>
          </a:xfrm>
          <a:prstGeom prst="rect">
            <a:avLst/>
          </a:prstGeom>
          <a:solidFill>
            <a:schemeClr val="accent4"/>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E78BAC0E-207C-0F37-AE44-9E906919F176}"/>
              </a:ext>
            </a:extLst>
          </p:cNvPr>
          <p:cNvSpPr/>
          <p:nvPr>
            <p:custDataLst>
              <p:tags r:id="rId12"/>
            </p:custDataLst>
          </p:nvPr>
        </p:nvSpPr>
        <p:spPr bwMode="auto">
          <a:xfrm>
            <a:off x="3319463" y="2705100"/>
            <a:ext cx="250825" cy="187325"/>
          </a:xfrm>
          <a:prstGeom prst="rect">
            <a:avLst/>
          </a:prstGeom>
          <a:solidFill>
            <a:schemeClr val="accent5"/>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F3B2FE8C-8D58-9272-95D9-EB29466F9831}"/>
              </a:ext>
            </a:extLst>
          </p:cNvPr>
          <p:cNvSpPr/>
          <p:nvPr>
            <p:custDataLst>
              <p:tags r:id="rId13"/>
            </p:custDataLst>
          </p:nvPr>
        </p:nvSpPr>
        <p:spPr bwMode="auto">
          <a:xfrm>
            <a:off x="3319463" y="2959100"/>
            <a:ext cx="250825" cy="187325"/>
          </a:xfrm>
          <a:prstGeom prst="rect">
            <a:avLst/>
          </a:prstGeom>
          <a:solidFill>
            <a:schemeClr val="accent6"/>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69D5B15F-EA32-0AF2-5451-FD895877165D}"/>
              </a:ext>
            </a:extLst>
          </p:cNvPr>
          <p:cNvSpPr/>
          <p:nvPr>
            <p:custDataLst>
              <p:tags r:id="rId14"/>
            </p:custDataLst>
          </p:nvPr>
        </p:nvSpPr>
        <p:spPr bwMode="auto">
          <a:xfrm>
            <a:off x="3319463" y="3213100"/>
            <a:ext cx="250825" cy="187325"/>
          </a:xfrm>
          <a:prstGeom prst="rect">
            <a:avLst/>
          </a:prstGeom>
          <a:solidFill>
            <a:schemeClr val="accent1"/>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F9EB7499-A82C-1B44-4C2C-4CDE07E28028}"/>
              </a:ext>
            </a:extLst>
          </p:cNvPr>
          <p:cNvSpPr/>
          <p:nvPr>
            <p:custDataLst>
              <p:tags r:id="rId15"/>
            </p:custDataLst>
          </p:nvPr>
        </p:nvSpPr>
        <p:spPr bwMode="auto">
          <a:xfrm>
            <a:off x="3319463" y="3467100"/>
            <a:ext cx="250825" cy="187325"/>
          </a:xfrm>
          <a:prstGeom prst="rect">
            <a:avLst/>
          </a:prstGeom>
          <a:solidFill>
            <a:schemeClr val="accent2"/>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8E51B03C-FF32-E03B-4287-4292B2BA6350}"/>
              </a:ext>
            </a:extLst>
          </p:cNvPr>
          <p:cNvSpPr/>
          <p:nvPr>
            <p:custDataLst>
              <p:tags r:id="rId16"/>
            </p:custDataLst>
          </p:nvPr>
        </p:nvSpPr>
        <p:spPr bwMode="auto">
          <a:xfrm>
            <a:off x="3319463" y="3721100"/>
            <a:ext cx="250825" cy="187325"/>
          </a:xfrm>
          <a:prstGeom prst="rect">
            <a:avLst/>
          </a:prstGeom>
          <a:solidFill>
            <a:schemeClr val="accent3"/>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 Placeholder 2">
            <a:extLst>
              <a:ext uri="{FF2B5EF4-FFF2-40B4-BE49-F238E27FC236}">
                <a16:creationId xmlns:a16="http://schemas.microsoft.com/office/drawing/2014/main" id="{C843B153-8428-55E0-612C-6DE40B1557EB}"/>
              </a:ext>
            </a:extLst>
          </p:cNvPr>
          <p:cNvSpPr>
            <a:spLocks noGrp="1"/>
          </p:cNvSpPr>
          <p:nvPr>
            <p:custDataLst>
              <p:tags r:id="rId17"/>
            </p:custDataLst>
          </p:nvPr>
        </p:nvSpPr>
        <p:spPr bwMode="auto">
          <a:xfrm>
            <a:off x="3621088" y="1700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6D96A912-8BAF-4D72-8D28-6AA29CE4AB7A}" type="datetime'''''''''''''''''''''''''''''''''''''''''''''''''''2'''''''''''">
              <a:rPr lang="en-GB" altLang="en-US" sz="1400" smtClean="0">
                <a:effectLst/>
              </a:rPr>
              <a:pPr marL="0" lvl="0" indent="0">
                <a:spcBef>
                  <a:spcPct val="0"/>
                </a:spcBef>
                <a:spcAft>
                  <a:spcPct val="0"/>
                </a:spcAft>
                <a:buNone/>
              </a:pPr>
              <a:t>2</a:t>
            </a:fld>
            <a:endParaRPr lang="en-GB" sz="1400" dirty="0"/>
          </a:p>
        </p:txBody>
      </p:sp>
      <p:sp>
        <p:nvSpPr>
          <p:cNvPr id="31" name="Text Placeholder 2">
            <a:extLst>
              <a:ext uri="{FF2B5EF4-FFF2-40B4-BE49-F238E27FC236}">
                <a16:creationId xmlns:a16="http://schemas.microsoft.com/office/drawing/2014/main" id="{C843B153-8428-55E0-612C-6DE40B1557EB}"/>
              </a:ext>
            </a:extLst>
          </p:cNvPr>
          <p:cNvSpPr>
            <a:spLocks noGrp="1"/>
          </p:cNvSpPr>
          <p:nvPr>
            <p:custDataLst>
              <p:tags r:id="rId18"/>
            </p:custDataLst>
          </p:nvPr>
        </p:nvSpPr>
        <p:spPr bwMode="auto">
          <a:xfrm>
            <a:off x="3621088" y="2208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3AF14D43-FEF0-4615-AE20-7D13378434A7}" type="datetime'''''''''4'''''''''">
              <a:rPr lang="en-GB" altLang="en-US" sz="1400" smtClean="0">
                <a:effectLst/>
              </a:rPr>
              <a:pPr marL="0" lvl="0" indent="0">
                <a:spcBef>
                  <a:spcPct val="0"/>
                </a:spcBef>
                <a:spcAft>
                  <a:spcPct val="0"/>
                </a:spcAft>
                <a:buNone/>
              </a:pPr>
              <a:t>4</a:t>
            </a:fld>
            <a:endParaRPr lang="en-GB" sz="1400" dirty="0"/>
          </a:p>
        </p:txBody>
      </p:sp>
      <p:sp>
        <p:nvSpPr>
          <p:cNvPr id="30" name="Text Placeholder 2">
            <a:extLst>
              <a:ext uri="{FF2B5EF4-FFF2-40B4-BE49-F238E27FC236}">
                <a16:creationId xmlns:a16="http://schemas.microsoft.com/office/drawing/2014/main" id="{C843B153-8428-55E0-612C-6DE40B1557EB}"/>
              </a:ext>
            </a:extLst>
          </p:cNvPr>
          <p:cNvSpPr>
            <a:spLocks noGrp="1"/>
          </p:cNvSpPr>
          <p:nvPr>
            <p:custDataLst>
              <p:tags r:id="rId19"/>
            </p:custDataLst>
          </p:nvPr>
        </p:nvSpPr>
        <p:spPr bwMode="auto">
          <a:xfrm>
            <a:off x="3621088" y="1954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34F406-F2A1-49E6-B823-F711EA5D2895}" type="datetime'''''''''''''''''''''''''''''''''3'''''''''''''''">
              <a:rPr lang="en-GB" altLang="en-US" sz="1400" smtClean="0">
                <a:effectLst/>
              </a:rPr>
              <a:pPr marL="0" lvl="0" indent="0">
                <a:spcBef>
                  <a:spcPct val="0"/>
                </a:spcBef>
                <a:spcAft>
                  <a:spcPct val="0"/>
                </a:spcAft>
                <a:buNone/>
              </a:pPr>
              <a:t>3</a:t>
            </a:fld>
            <a:endParaRPr lang="en-GB" sz="1400" dirty="0"/>
          </a:p>
        </p:txBody>
      </p:sp>
      <p:sp>
        <p:nvSpPr>
          <p:cNvPr id="35" name="Text Placeholder 2">
            <a:extLst>
              <a:ext uri="{FF2B5EF4-FFF2-40B4-BE49-F238E27FC236}">
                <a16:creationId xmlns:a16="http://schemas.microsoft.com/office/drawing/2014/main" id="{C843B153-8428-55E0-612C-6DE40B1557EB}"/>
              </a:ext>
            </a:extLst>
          </p:cNvPr>
          <p:cNvSpPr>
            <a:spLocks noGrp="1"/>
          </p:cNvSpPr>
          <p:nvPr>
            <p:custDataLst>
              <p:tags r:id="rId20"/>
            </p:custDataLst>
          </p:nvPr>
        </p:nvSpPr>
        <p:spPr bwMode="auto">
          <a:xfrm>
            <a:off x="3621088" y="3224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E0602C65-857B-438E-A30F-82F79FE4203E}" type="datetime'''''''''''''''''8'''''''''''''''''''''''''">
              <a:rPr lang="en-GB" altLang="en-US" sz="1400" smtClean="0">
                <a:effectLst/>
              </a:rPr>
              <a:pPr marL="0" lvl="0" indent="0">
                <a:spcBef>
                  <a:spcPct val="0"/>
                </a:spcBef>
                <a:spcAft>
                  <a:spcPct val="0"/>
                </a:spcAft>
                <a:buNone/>
              </a:pPr>
              <a:t>8</a:t>
            </a:fld>
            <a:endParaRPr lang="en-GB" sz="1400" dirty="0"/>
          </a:p>
        </p:txBody>
      </p:sp>
      <p:sp>
        <p:nvSpPr>
          <p:cNvPr id="32" name="Text Placeholder 2">
            <a:extLst>
              <a:ext uri="{FF2B5EF4-FFF2-40B4-BE49-F238E27FC236}">
                <a16:creationId xmlns:a16="http://schemas.microsoft.com/office/drawing/2014/main" id="{C843B153-8428-55E0-612C-6DE40B1557EB}"/>
              </a:ext>
            </a:extLst>
          </p:cNvPr>
          <p:cNvSpPr>
            <a:spLocks noGrp="1"/>
          </p:cNvSpPr>
          <p:nvPr>
            <p:custDataLst>
              <p:tags r:id="rId21"/>
            </p:custDataLst>
          </p:nvPr>
        </p:nvSpPr>
        <p:spPr bwMode="auto">
          <a:xfrm>
            <a:off x="3621088" y="2462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BC9A91BA-5C85-40EF-BF36-F3BA21C4289C}" type="datetime'''''5'''''''''''''''''''''''''''''''''''''''''''''''''''">
              <a:rPr lang="en-GB" altLang="en-US" sz="1400" smtClean="0">
                <a:effectLst/>
              </a:rPr>
              <a:pPr marL="0" lvl="0" indent="0">
                <a:spcBef>
                  <a:spcPct val="0"/>
                </a:spcBef>
                <a:spcAft>
                  <a:spcPct val="0"/>
                </a:spcAft>
                <a:buNone/>
              </a:pPr>
              <a:t>5</a:t>
            </a:fld>
            <a:endParaRPr lang="en-GB" sz="1400" dirty="0"/>
          </a:p>
        </p:txBody>
      </p:sp>
      <p:sp>
        <p:nvSpPr>
          <p:cNvPr id="33" name="Text Placeholder 2">
            <a:extLst>
              <a:ext uri="{FF2B5EF4-FFF2-40B4-BE49-F238E27FC236}">
                <a16:creationId xmlns:a16="http://schemas.microsoft.com/office/drawing/2014/main" id="{C843B153-8428-55E0-612C-6DE40B1557EB}"/>
              </a:ext>
            </a:extLst>
          </p:cNvPr>
          <p:cNvSpPr>
            <a:spLocks noGrp="1"/>
          </p:cNvSpPr>
          <p:nvPr>
            <p:custDataLst>
              <p:tags r:id="rId22"/>
            </p:custDataLst>
          </p:nvPr>
        </p:nvSpPr>
        <p:spPr bwMode="auto">
          <a:xfrm>
            <a:off x="3621088" y="2716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2836E895-D8FE-4A57-A67B-755C5409EEEA}" type="datetime'''''''''''''''''''''''''''''''''''''''''''''''''''''''''''''6'">
              <a:rPr lang="en-GB" altLang="en-US" sz="1400" smtClean="0">
                <a:effectLst/>
              </a:rPr>
              <a:pPr marL="0" lvl="0" indent="0">
                <a:spcBef>
                  <a:spcPct val="0"/>
                </a:spcBef>
                <a:spcAft>
                  <a:spcPct val="0"/>
                </a:spcAft>
                <a:buNone/>
              </a:pPr>
              <a:t>6</a:t>
            </a:fld>
            <a:endParaRPr lang="en-GB" sz="1400" dirty="0"/>
          </a:p>
        </p:txBody>
      </p:sp>
      <p:sp>
        <p:nvSpPr>
          <p:cNvPr id="34" name="Text Placeholder 2">
            <a:extLst>
              <a:ext uri="{FF2B5EF4-FFF2-40B4-BE49-F238E27FC236}">
                <a16:creationId xmlns:a16="http://schemas.microsoft.com/office/drawing/2014/main" id="{C843B153-8428-55E0-612C-6DE40B1557EB}"/>
              </a:ext>
            </a:extLst>
          </p:cNvPr>
          <p:cNvSpPr>
            <a:spLocks noGrp="1"/>
          </p:cNvSpPr>
          <p:nvPr>
            <p:custDataLst>
              <p:tags r:id="rId23"/>
            </p:custDataLst>
          </p:nvPr>
        </p:nvSpPr>
        <p:spPr bwMode="auto">
          <a:xfrm>
            <a:off x="3621088" y="2970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0DF6BC39-B3BB-4C16-9C49-8A6A74E955AB}" type="datetime'''''''''''7'''''''''''">
              <a:rPr lang="en-GB" altLang="en-US" sz="1400" smtClean="0">
                <a:effectLst/>
              </a:rPr>
              <a:pPr marL="0" lvl="0" indent="0">
                <a:spcBef>
                  <a:spcPct val="0"/>
                </a:spcBef>
                <a:spcAft>
                  <a:spcPct val="0"/>
                </a:spcAft>
                <a:buNone/>
              </a:pPr>
              <a:t>7</a:t>
            </a:fld>
            <a:endParaRPr lang="en-GB" sz="1400" dirty="0"/>
          </a:p>
        </p:txBody>
      </p:sp>
      <p:sp>
        <p:nvSpPr>
          <p:cNvPr id="36" name="Text Placeholder 2">
            <a:extLst>
              <a:ext uri="{FF2B5EF4-FFF2-40B4-BE49-F238E27FC236}">
                <a16:creationId xmlns:a16="http://schemas.microsoft.com/office/drawing/2014/main" id="{C843B153-8428-55E0-612C-6DE40B1557EB}"/>
              </a:ext>
            </a:extLst>
          </p:cNvPr>
          <p:cNvSpPr>
            <a:spLocks noGrp="1"/>
          </p:cNvSpPr>
          <p:nvPr>
            <p:custDataLst>
              <p:tags r:id="rId24"/>
            </p:custDataLst>
          </p:nvPr>
        </p:nvSpPr>
        <p:spPr bwMode="auto">
          <a:xfrm>
            <a:off x="3621088" y="3478213"/>
            <a:ext cx="952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82A39761-7CB5-4C35-884C-62FF12BF995D}" type="datetime'''''''''''''''''''''''''9'''''''''''''''''''">
              <a:rPr lang="en-GB" altLang="en-US" sz="1400" smtClean="0">
                <a:effectLst/>
              </a:rPr>
              <a:pPr marL="0" lvl="0" indent="0">
                <a:spcBef>
                  <a:spcPct val="0"/>
                </a:spcBef>
                <a:spcAft>
                  <a:spcPct val="0"/>
                </a:spcAft>
                <a:buNone/>
              </a:pPr>
              <a:t>9</a:t>
            </a:fld>
            <a:endParaRPr lang="en-GB" sz="1400" dirty="0"/>
          </a:p>
        </p:txBody>
      </p:sp>
      <p:sp>
        <p:nvSpPr>
          <p:cNvPr id="37" name="Text Placeholder 2">
            <a:extLst>
              <a:ext uri="{FF2B5EF4-FFF2-40B4-BE49-F238E27FC236}">
                <a16:creationId xmlns:a16="http://schemas.microsoft.com/office/drawing/2014/main" id="{C843B153-8428-55E0-612C-6DE40B1557EB}"/>
              </a:ext>
            </a:extLst>
          </p:cNvPr>
          <p:cNvSpPr>
            <a:spLocks noGrp="1"/>
          </p:cNvSpPr>
          <p:nvPr>
            <p:custDataLst>
              <p:tags r:id="rId25"/>
            </p:custDataLst>
          </p:nvPr>
        </p:nvSpPr>
        <p:spPr bwMode="auto">
          <a:xfrm>
            <a:off x="3621088" y="3732213"/>
            <a:ext cx="1905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3D8C3BB9-37E8-4445-9A9C-F53D669B1D78}" type="datetime'''''''''''''''''''''''''''''''''1''''''''''''0'''''''">
              <a:rPr lang="en-GB" altLang="en-US" sz="1400" smtClean="0">
                <a:effectLst/>
              </a:rPr>
              <a:pPr marL="0" lvl="0" indent="0">
                <a:spcBef>
                  <a:spcPct val="0"/>
                </a:spcBef>
                <a:spcAft>
                  <a:spcPct val="0"/>
                </a:spcAft>
                <a:buNone/>
              </a:pPr>
              <a:t>10</a:t>
            </a:fld>
            <a:endParaRPr lang="en-GB" sz="1400" dirty="0"/>
          </a:p>
        </p:txBody>
      </p:sp>
      <p:sp>
        <p:nvSpPr>
          <p:cNvPr id="78" name="TextBox 77">
            <a:extLst>
              <a:ext uri="{FF2B5EF4-FFF2-40B4-BE49-F238E27FC236}">
                <a16:creationId xmlns:a16="http://schemas.microsoft.com/office/drawing/2014/main" id="{6C8EBB4B-E78D-54F0-E330-B894D3C9738D}"/>
              </a:ext>
            </a:extLst>
          </p:cNvPr>
          <p:cNvSpPr txBox="1"/>
          <p:nvPr/>
        </p:nvSpPr>
        <p:spPr>
          <a:xfrm>
            <a:off x="201226" y="6552581"/>
            <a:ext cx="4885666" cy="276999"/>
          </a:xfrm>
          <a:prstGeom prst="rect">
            <a:avLst/>
          </a:prstGeom>
          <a:noFill/>
        </p:spPr>
        <p:txBody>
          <a:bodyPr wrap="square">
            <a:spAutoFit/>
          </a:bodyPr>
          <a:lstStyle/>
          <a:p>
            <a:r>
              <a:rPr lang="en-GB" sz="1200" b="1" dirty="0"/>
              <a:t>How likely are you to recommend this service to others at King's?</a:t>
            </a:r>
          </a:p>
        </p:txBody>
      </p:sp>
      <p:sp>
        <p:nvSpPr>
          <p:cNvPr id="3" name="TextBox 2">
            <a:extLst>
              <a:ext uri="{FF2B5EF4-FFF2-40B4-BE49-F238E27FC236}">
                <a16:creationId xmlns:a16="http://schemas.microsoft.com/office/drawing/2014/main" id="{3394C825-5FF6-1324-B3C0-7B1D9E1ADDCB}"/>
              </a:ext>
            </a:extLst>
          </p:cNvPr>
          <p:cNvSpPr txBox="1"/>
          <p:nvPr/>
        </p:nvSpPr>
        <p:spPr>
          <a:xfrm>
            <a:off x="655543" y="917618"/>
            <a:ext cx="2346513" cy="646331"/>
          </a:xfrm>
          <a:prstGeom prst="rect">
            <a:avLst/>
          </a:prstGeom>
          <a:noFill/>
        </p:spPr>
        <p:txBody>
          <a:bodyPr wrap="square" rtlCol="0">
            <a:spAutoFit/>
          </a:bodyPr>
          <a:lstStyle/>
          <a:p>
            <a:pPr algn="ctr"/>
            <a:r>
              <a:rPr lang="en-GB" b="1" dirty="0"/>
              <a:t>NPS Breakdown </a:t>
            </a:r>
          </a:p>
          <a:p>
            <a:pPr algn="ctr"/>
            <a:r>
              <a:rPr lang="en-GB" b="1" dirty="0"/>
              <a:t> 56%</a:t>
            </a:r>
          </a:p>
        </p:txBody>
      </p:sp>
      <p:graphicFrame>
        <p:nvGraphicFramePr>
          <p:cNvPr id="4" name="Chart 3">
            <a:extLst>
              <a:ext uri="{FF2B5EF4-FFF2-40B4-BE49-F238E27FC236}">
                <a16:creationId xmlns:a16="http://schemas.microsoft.com/office/drawing/2014/main" id="{36D63430-28D0-50C4-C47E-8AA6B4F911AF}"/>
              </a:ext>
            </a:extLst>
          </p:cNvPr>
          <p:cNvGraphicFramePr>
            <a:graphicFrameLocks/>
          </p:cNvGraphicFramePr>
          <p:nvPr>
            <p:extLst>
              <p:ext uri="{D42A27DB-BD31-4B8C-83A1-F6EECF244321}">
                <p14:modId xmlns:p14="http://schemas.microsoft.com/office/powerpoint/2010/main" val="2930518888"/>
              </p:ext>
            </p:extLst>
          </p:nvPr>
        </p:nvGraphicFramePr>
        <p:xfrm>
          <a:off x="5086892" y="3006200"/>
          <a:ext cx="6457950" cy="2924175"/>
        </p:xfrm>
        <a:graphic>
          <a:graphicData uri="http://schemas.openxmlformats.org/drawingml/2006/chart">
            <c:chart xmlns:c="http://schemas.openxmlformats.org/drawingml/2006/chart" xmlns:r="http://schemas.openxmlformats.org/officeDocument/2006/relationships" r:id="rId30"/>
          </a:graphicData>
        </a:graphic>
      </p:graphicFrame>
      <p:sp>
        <p:nvSpPr>
          <p:cNvPr id="6" name="TextBox 5">
            <a:extLst>
              <a:ext uri="{FF2B5EF4-FFF2-40B4-BE49-F238E27FC236}">
                <a16:creationId xmlns:a16="http://schemas.microsoft.com/office/drawing/2014/main" id="{B9BEA928-7219-80F1-C203-CC3D05F670BE}"/>
              </a:ext>
            </a:extLst>
          </p:cNvPr>
          <p:cNvSpPr txBox="1"/>
          <p:nvPr/>
        </p:nvSpPr>
        <p:spPr>
          <a:xfrm>
            <a:off x="11363418" y="3052762"/>
            <a:ext cx="709520" cy="2877711"/>
          </a:xfrm>
          <a:prstGeom prst="rect">
            <a:avLst/>
          </a:prstGeom>
          <a:noFill/>
        </p:spPr>
        <p:txBody>
          <a:bodyPr wrap="square" rtlCol="0">
            <a:spAutoFit/>
          </a:bodyPr>
          <a:lstStyle/>
          <a:p>
            <a:pPr algn="ctr"/>
            <a:r>
              <a:rPr lang="en-GB" b="1" dirty="0"/>
              <a:t>NPS</a:t>
            </a:r>
          </a:p>
          <a:p>
            <a:pPr algn="ctr"/>
            <a:r>
              <a:rPr lang="en-GB" b="1" dirty="0"/>
              <a:t>71</a:t>
            </a:r>
          </a:p>
          <a:p>
            <a:pPr algn="ctr"/>
            <a:endParaRPr lang="en-GB" sz="1050" b="1" dirty="0"/>
          </a:p>
          <a:p>
            <a:pPr algn="ctr"/>
            <a:r>
              <a:rPr lang="en-GB" b="1" dirty="0"/>
              <a:t>39</a:t>
            </a:r>
          </a:p>
          <a:p>
            <a:pPr algn="ctr"/>
            <a:endParaRPr lang="en-GB" sz="1050" b="1" dirty="0"/>
          </a:p>
          <a:p>
            <a:pPr algn="ctr"/>
            <a:r>
              <a:rPr lang="en-GB" b="1" dirty="0"/>
              <a:t>100</a:t>
            </a:r>
          </a:p>
          <a:p>
            <a:pPr algn="ctr"/>
            <a:endParaRPr lang="en-GB" sz="1050" b="1" dirty="0"/>
          </a:p>
          <a:p>
            <a:pPr algn="ctr"/>
            <a:r>
              <a:rPr lang="en-GB" b="1" dirty="0"/>
              <a:t>100</a:t>
            </a:r>
          </a:p>
          <a:p>
            <a:pPr algn="ctr"/>
            <a:endParaRPr lang="en-GB" sz="1050" b="1" dirty="0"/>
          </a:p>
          <a:p>
            <a:pPr algn="ctr"/>
            <a:r>
              <a:rPr lang="en-GB" b="1" dirty="0"/>
              <a:t>-100</a:t>
            </a:r>
          </a:p>
          <a:p>
            <a:pPr algn="ctr"/>
            <a:endParaRPr lang="en-GB" sz="1000" b="1" dirty="0"/>
          </a:p>
          <a:p>
            <a:pPr algn="ctr"/>
            <a:r>
              <a:rPr lang="en-GB" b="1" dirty="0"/>
              <a:t>89</a:t>
            </a:r>
          </a:p>
        </p:txBody>
      </p:sp>
    </p:spTree>
    <p:extLst>
      <p:ext uri="{BB962C8B-B14F-4D97-AF65-F5344CB8AC3E}">
        <p14:creationId xmlns:p14="http://schemas.microsoft.com/office/powerpoint/2010/main" val="1582593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9E9189-1167-C0F0-D2E2-1D8DD22C3FAB}"/>
              </a:ext>
            </a:extLst>
          </p:cNvPr>
          <p:cNvGraphicFramePr>
            <a:graphicFrameLocks noChangeAspect="1"/>
          </p:cNvGraphicFramePr>
          <p:nvPr>
            <p:custDataLst>
              <p:tags r:id="rId1"/>
            </p:custDataLst>
            <p:extLst>
              <p:ext uri="{D42A27DB-BD31-4B8C-83A1-F6EECF244321}">
                <p14:modId xmlns:p14="http://schemas.microsoft.com/office/powerpoint/2010/main" val="28729602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think-cell data - do not delete" hidden="1">
                        <a:extLst>
                          <a:ext uri="{FF2B5EF4-FFF2-40B4-BE49-F238E27FC236}">
                            <a16:creationId xmlns:a16="http://schemas.microsoft.com/office/drawing/2014/main" id="{B69E9189-1167-C0F0-D2E2-1D8DD22C3F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9" name="Straight Connector 8">
            <a:extLst>
              <a:ext uri="{FF2B5EF4-FFF2-40B4-BE49-F238E27FC236}">
                <a16:creationId xmlns:a16="http://schemas.microsoft.com/office/drawing/2014/main" id="{EFF9E90F-0CE6-D3FA-779A-6A0441F58F69}"/>
              </a:ext>
            </a:extLst>
          </p:cNvPr>
          <p:cNvCxnSpPr>
            <a:cxnSpLocks/>
          </p:cNvCxnSpPr>
          <p:nvPr/>
        </p:nvCxnSpPr>
        <p:spPr>
          <a:xfrm>
            <a:off x="201227" y="694270"/>
            <a:ext cx="11579441" cy="0"/>
          </a:xfrm>
          <a:prstGeom prst="line">
            <a:avLst/>
          </a:prstGeom>
          <a:ln/>
        </p:spPr>
        <p:style>
          <a:lnRef idx="3">
            <a:schemeClr val="accent1"/>
          </a:lnRef>
          <a:fillRef idx="0">
            <a:schemeClr val="accent1"/>
          </a:fillRef>
          <a:effectRef idx="2">
            <a:schemeClr val="accent1"/>
          </a:effectRef>
          <a:fontRef idx="minor">
            <a:schemeClr val="tx1"/>
          </a:fontRef>
        </p:style>
      </p:cxnSp>
      <p:sp>
        <p:nvSpPr>
          <p:cNvPr id="12" name="TextBox 11">
            <a:extLst>
              <a:ext uri="{FF2B5EF4-FFF2-40B4-BE49-F238E27FC236}">
                <a16:creationId xmlns:a16="http://schemas.microsoft.com/office/drawing/2014/main" id="{B8EB91FD-9752-28C6-1036-F0AA02A4DC4D}"/>
              </a:ext>
            </a:extLst>
          </p:cNvPr>
          <p:cNvSpPr txBox="1"/>
          <p:nvPr/>
        </p:nvSpPr>
        <p:spPr>
          <a:xfrm>
            <a:off x="201227" y="88775"/>
            <a:ext cx="11579440" cy="646331"/>
          </a:xfrm>
          <a:prstGeom prst="rect">
            <a:avLst/>
          </a:prstGeom>
          <a:noFill/>
        </p:spPr>
        <p:txBody>
          <a:bodyPr wrap="square" rtlCol="0">
            <a:spAutoFit/>
          </a:bodyPr>
          <a:lstStyle/>
          <a:p>
            <a:r>
              <a:rPr lang="en-GB" b="1" dirty="0"/>
              <a:t>Digging deeper into the data, we can understand where the good performing areas are and then how can customer satisfaction can be improved. We do see varied results across Services.</a:t>
            </a:r>
          </a:p>
        </p:txBody>
      </p:sp>
      <p:graphicFrame>
        <p:nvGraphicFramePr>
          <p:cNvPr id="4" name="Table 3">
            <a:extLst>
              <a:ext uri="{FF2B5EF4-FFF2-40B4-BE49-F238E27FC236}">
                <a16:creationId xmlns:a16="http://schemas.microsoft.com/office/drawing/2014/main" id="{A865EE6D-5EAE-7CEC-A629-A833ED90458C}"/>
              </a:ext>
            </a:extLst>
          </p:cNvPr>
          <p:cNvGraphicFramePr>
            <a:graphicFrameLocks noGrp="1"/>
          </p:cNvGraphicFramePr>
          <p:nvPr>
            <p:extLst>
              <p:ext uri="{D42A27DB-BD31-4B8C-83A1-F6EECF244321}">
                <p14:modId xmlns:p14="http://schemas.microsoft.com/office/powerpoint/2010/main" val="366029150"/>
              </p:ext>
            </p:extLst>
          </p:nvPr>
        </p:nvGraphicFramePr>
        <p:xfrm>
          <a:off x="201227" y="1146407"/>
          <a:ext cx="7752886" cy="1706880"/>
        </p:xfrm>
        <a:graphic>
          <a:graphicData uri="http://schemas.openxmlformats.org/drawingml/2006/table">
            <a:tbl>
              <a:tblPr>
                <a:tableStyleId>{BC89EF96-8CEA-46FF-86C4-4CE0E7609802}</a:tableStyleId>
              </a:tblPr>
              <a:tblGrid>
                <a:gridCol w="2719526">
                  <a:extLst>
                    <a:ext uri="{9D8B030D-6E8A-4147-A177-3AD203B41FA5}">
                      <a16:colId xmlns:a16="http://schemas.microsoft.com/office/drawing/2014/main" val="2808223207"/>
                    </a:ext>
                  </a:extLst>
                </a:gridCol>
                <a:gridCol w="861124">
                  <a:extLst>
                    <a:ext uri="{9D8B030D-6E8A-4147-A177-3AD203B41FA5}">
                      <a16:colId xmlns:a16="http://schemas.microsoft.com/office/drawing/2014/main" val="2448183844"/>
                    </a:ext>
                  </a:extLst>
                </a:gridCol>
                <a:gridCol w="1043059">
                  <a:extLst>
                    <a:ext uri="{9D8B030D-6E8A-4147-A177-3AD203B41FA5}">
                      <a16:colId xmlns:a16="http://schemas.microsoft.com/office/drawing/2014/main" val="2515377619"/>
                    </a:ext>
                  </a:extLst>
                </a:gridCol>
                <a:gridCol w="1043059">
                  <a:extLst>
                    <a:ext uri="{9D8B030D-6E8A-4147-A177-3AD203B41FA5}">
                      <a16:colId xmlns:a16="http://schemas.microsoft.com/office/drawing/2014/main" val="3872487091"/>
                    </a:ext>
                  </a:extLst>
                </a:gridCol>
                <a:gridCol w="1043059">
                  <a:extLst>
                    <a:ext uri="{9D8B030D-6E8A-4147-A177-3AD203B41FA5}">
                      <a16:colId xmlns:a16="http://schemas.microsoft.com/office/drawing/2014/main" val="1515306791"/>
                    </a:ext>
                  </a:extLst>
                </a:gridCol>
                <a:gridCol w="1043059">
                  <a:extLst>
                    <a:ext uri="{9D8B030D-6E8A-4147-A177-3AD203B41FA5}">
                      <a16:colId xmlns:a16="http://schemas.microsoft.com/office/drawing/2014/main" val="3616500529"/>
                    </a:ext>
                  </a:extLst>
                </a:gridCol>
              </a:tblGrid>
              <a:tr h="190500">
                <a:tc>
                  <a:txBody>
                    <a:bodyPr/>
                    <a:lstStyle/>
                    <a:p>
                      <a:pPr algn="l" fontAlgn="b"/>
                      <a:r>
                        <a:rPr lang="en-GB" sz="1600" b="1" u="none" strike="noStrike" dirty="0">
                          <a:solidFill>
                            <a:schemeClr val="bg1"/>
                          </a:solidFill>
                          <a:effectLst/>
                        </a:rPr>
                        <a:t>Service</a:t>
                      </a:r>
                      <a:endParaRPr lang="en-GB" sz="1600" b="1" i="0" u="none" strike="noStrike" dirty="0">
                        <a:solidFill>
                          <a:schemeClr val="bg1"/>
                        </a:solidFill>
                        <a:effectLst/>
                        <a:latin typeface="Calibri" panose="020F0502020204030204" pitchFamily="34" charset="0"/>
                      </a:endParaRPr>
                    </a:p>
                  </a:txBody>
                  <a:tcPr marL="0" marR="0" marT="0" marB="0" anchor="b">
                    <a:solidFill>
                      <a:schemeClr val="accent4">
                        <a:lumMod val="75000"/>
                      </a:schemeClr>
                    </a:solidFill>
                  </a:tcPr>
                </a:tc>
                <a:tc>
                  <a:txBody>
                    <a:bodyPr/>
                    <a:lstStyle/>
                    <a:p>
                      <a:pPr algn="ctr" fontAlgn="b"/>
                      <a:r>
                        <a:rPr lang="en-GB" sz="1600" b="1" u="none" strike="noStrike" dirty="0">
                          <a:solidFill>
                            <a:schemeClr val="bg1"/>
                          </a:solidFill>
                          <a:effectLst/>
                        </a:rPr>
                        <a:t>1</a:t>
                      </a:r>
                      <a:endParaRPr lang="en-GB" sz="1600" b="1" i="0" u="none" strike="noStrike" dirty="0">
                        <a:solidFill>
                          <a:schemeClr val="bg1"/>
                        </a:solidFill>
                        <a:effectLst/>
                        <a:latin typeface="Calibri" panose="020F0502020204030204" pitchFamily="34" charset="0"/>
                      </a:endParaRPr>
                    </a:p>
                  </a:txBody>
                  <a:tcPr marL="0" marR="0" marT="0" marB="0" anchor="b">
                    <a:solidFill>
                      <a:schemeClr val="accent4">
                        <a:lumMod val="75000"/>
                      </a:schemeClr>
                    </a:solidFill>
                  </a:tcPr>
                </a:tc>
                <a:tc>
                  <a:txBody>
                    <a:bodyPr/>
                    <a:lstStyle/>
                    <a:p>
                      <a:pPr algn="ctr" fontAlgn="b"/>
                      <a:r>
                        <a:rPr lang="en-GB" sz="1600" b="1" u="none" strike="noStrike" dirty="0">
                          <a:solidFill>
                            <a:schemeClr val="bg1"/>
                          </a:solidFill>
                          <a:effectLst/>
                        </a:rPr>
                        <a:t>2</a:t>
                      </a:r>
                      <a:endParaRPr lang="en-GB" sz="1600" b="1" i="0" u="none" strike="noStrike" dirty="0">
                        <a:solidFill>
                          <a:schemeClr val="bg1"/>
                        </a:solidFill>
                        <a:effectLst/>
                        <a:latin typeface="Calibri" panose="020F0502020204030204" pitchFamily="34" charset="0"/>
                      </a:endParaRPr>
                    </a:p>
                  </a:txBody>
                  <a:tcPr marL="0" marR="0" marT="0" marB="0" anchor="b">
                    <a:solidFill>
                      <a:schemeClr val="accent4">
                        <a:lumMod val="75000"/>
                      </a:schemeClr>
                    </a:solidFill>
                  </a:tcPr>
                </a:tc>
                <a:tc>
                  <a:txBody>
                    <a:bodyPr/>
                    <a:lstStyle/>
                    <a:p>
                      <a:pPr algn="ctr" fontAlgn="b"/>
                      <a:r>
                        <a:rPr lang="en-GB" sz="1600" b="1" u="none" strike="noStrike" dirty="0">
                          <a:solidFill>
                            <a:schemeClr val="bg1"/>
                          </a:solidFill>
                          <a:effectLst/>
                        </a:rPr>
                        <a:t>3</a:t>
                      </a:r>
                      <a:endParaRPr lang="en-GB" sz="1600" b="1" i="0" u="none" strike="noStrike" dirty="0">
                        <a:solidFill>
                          <a:schemeClr val="bg1"/>
                        </a:solidFill>
                        <a:effectLst/>
                        <a:latin typeface="Calibri" panose="020F0502020204030204" pitchFamily="34" charset="0"/>
                      </a:endParaRPr>
                    </a:p>
                  </a:txBody>
                  <a:tcPr marL="0" marR="0" marT="0" marB="0" anchor="b">
                    <a:solidFill>
                      <a:schemeClr val="accent4">
                        <a:lumMod val="75000"/>
                      </a:schemeClr>
                    </a:solidFill>
                  </a:tcPr>
                </a:tc>
                <a:tc>
                  <a:txBody>
                    <a:bodyPr/>
                    <a:lstStyle/>
                    <a:p>
                      <a:pPr algn="ctr" fontAlgn="b"/>
                      <a:r>
                        <a:rPr lang="en-GB" sz="1600" b="1" u="none" strike="noStrike" dirty="0">
                          <a:solidFill>
                            <a:schemeClr val="bg1"/>
                          </a:solidFill>
                          <a:effectLst/>
                        </a:rPr>
                        <a:t>4</a:t>
                      </a:r>
                      <a:endParaRPr lang="en-GB" sz="1600" b="1" i="0" u="none" strike="noStrike" dirty="0">
                        <a:solidFill>
                          <a:schemeClr val="bg1"/>
                        </a:solidFill>
                        <a:effectLst/>
                        <a:latin typeface="Calibri" panose="020F0502020204030204" pitchFamily="34" charset="0"/>
                      </a:endParaRPr>
                    </a:p>
                  </a:txBody>
                  <a:tcPr marL="0" marR="0" marT="0" marB="0" anchor="b">
                    <a:solidFill>
                      <a:schemeClr val="accent4">
                        <a:lumMod val="75000"/>
                      </a:schemeClr>
                    </a:solidFill>
                  </a:tcPr>
                </a:tc>
                <a:tc>
                  <a:txBody>
                    <a:bodyPr/>
                    <a:lstStyle/>
                    <a:p>
                      <a:pPr algn="ctr" fontAlgn="b"/>
                      <a:r>
                        <a:rPr lang="en-GB" sz="1600" b="1" u="none" strike="noStrike" dirty="0">
                          <a:solidFill>
                            <a:schemeClr val="bg1"/>
                          </a:solidFill>
                          <a:effectLst/>
                        </a:rPr>
                        <a:t>5</a:t>
                      </a:r>
                      <a:endParaRPr lang="en-GB" sz="1600" b="1" i="0" u="none" strike="noStrike" dirty="0">
                        <a:solidFill>
                          <a:schemeClr val="bg1"/>
                        </a:solidFill>
                        <a:effectLst/>
                        <a:latin typeface="Calibri" panose="020F0502020204030204" pitchFamily="34" charset="0"/>
                      </a:endParaRPr>
                    </a:p>
                  </a:txBody>
                  <a:tcPr marL="0" marR="0" marT="0" marB="0" anchor="b">
                    <a:solidFill>
                      <a:schemeClr val="accent4">
                        <a:lumMod val="75000"/>
                      </a:schemeClr>
                    </a:solidFill>
                  </a:tcPr>
                </a:tc>
                <a:extLst>
                  <a:ext uri="{0D108BD9-81ED-4DB2-BD59-A6C34878D82A}">
                    <a16:rowId xmlns:a16="http://schemas.microsoft.com/office/drawing/2014/main" val="3765744250"/>
                  </a:ext>
                </a:extLst>
              </a:tr>
              <a:tr h="190500">
                <a:tc>
                  <a:txBody>
                    <a:bodyPr/>
                    <a:lstStyle/>
                    <a:p>
                      <a:pPr algn="l" fontAlgn="b"/>
                      <a:r>
                        <a:rPr lang="en-GB" sz="1600" u="none" strike="noStrike">
                          <a:effectLst/>
                        </a:rPr>
                        <a:t>Cleaning</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dirty="0">
                          <a:effectLst/>
                        </a:rPr>
                        <a:t>1</a:t>
                      </a:r>
                      <a:endParaRPr lang="en-GB" sz="16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1</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3</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dirty="0">
                          <a:effectLst/>
                        </a:rPr>
                        <a:t>9</a:t>
                      </a:r>
                      <a:endParaRPr lang="en-GB"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80037218"/>
                  </a:ext>
                </a:extLst>
              </a:tr>
              <a:tr h="190500">
                <a:tc>
                  <a:txBody>
                    <a:bodyPr/>
                    <a:lstStyle/>
                    <a:p>
                      <a:pPr algn="l" fontAlgn="b"/>
                      <a:r>
                        <a:rPr lang="en-GB" sz="1600" u="none" strike="noStrike" dirty="0">
                          <a:effectLst/>
                        </a:rPr>
                        <a:t>Hard services </a:t>
                      </a:r>
                      <a:endParaRPr lang="en-GB" sz="16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11</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4</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dirty="0">
                          <a:effectLst/>
                        </a:rPr>
                        <a:t>5</a:t>
                      </a:r>
                      <a:endParaRPr lang="en-GB" sz="16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8</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41</a:t>
                      </a:r>
                      <a:endParaRPr lang="en-GB"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13693373"/>
                  </a:ext>
                </a:extLst>
              </a:tr>
              <a:tr h="190500">
                <a:tc>
                  <a:txBody>
                    <a:bodyPr/>
                    <a:lstStyle/>
                    <a:p>
                      <a:pPr algn="l" fontAlgn="b"/>
                      <a:r>
                        <a:rPr lang="en-GB" sz="1600" u="none" strike="noStrike">
                          <a:effectLst/>
                        </a:rPr>
                        <a:t>Residences - Applications</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2</a:t>
                      </a:r>
                      <a:endParaRPr lang="en-GB" sz="16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98913686"/>
                  </a:ext>
                </a:extLst>
              </a:tr>
              <a:tr h="190500">
                <a:tc>
                  <a:txBody>
                    <a:bodyPr/>
                    <a:lstStyle/>
                    <a:p>
                      <a:pPr algn="l" fontAlgn="b"/>
                      <a:r>
                        <a:rPr lang="en-GB" sz="1600" u="none" strike="noStrike">
                          <a:effectLst/>
                        </a:rPr>
                        <a:t>Residences - In House Service</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dirty="0">
                          <a:effectLst/>
                        </a:rPr>
                        <a:t>3</a:t>
                      </a:r>
                      <a:endParaRPr lang="en-GB"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68314107"/>
                  </a:ext>
                </a:extLst>
              </a:tr>
              <a:tr h="190500">
                <a:tc>
                  <a:txBody>
                    <a:bodyPr/>
                    <a:lstStyle/>
                    <a:p>
                      <a:pPr algn="l" fontAlgn="b"/>
                      <a:r>
                        <a:rPr lang="en-GB" sz="1600" u="none" strike="noStrike">
                          <a:effectLst/>
                        </a:rPr>
                        <a:t>Security</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1</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GB"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12286929"/>
                  </a:ext>
                </a:extLst>
              </a:tr>
              <a:tr h="190500">
                <a:tc>
                  <a:txBody>
                    <a:bodyPr/>
                    <a:lstStyle/>
                    <a:p>
                      <a:pPr algn="l" fontAlgn="b"/>
                      <a:r>
                        <a:rPr lang="en-GB" sz="1600" u="none" strike="noStrike" dirty="0">
                          <a:effectLst/>
                        </a:rPr>
                        <a:t>Soft Services </a:t>
                      </a:r>
                      <a:endParaRPr lang="en-GB" sz="1600" b="0" i="0" u="none" strike="noStrike" dirty="0">
                        <a:solidFill>
                          <a:srgbClr val="000000"/>
                        </a:solidFill>
                        <a:effectLst/>
                        <a:latin typeface="Calibri" panose="020F0502020204030204" pitchFamily="34" charset="0"/>
                      </a:endParaRPr>
                    </a:p>
                  </a:txBody>
                  <a:tcPr marL="0" marR="0" marT="0" marB="0" anchor="b"/>
                </a:tc>
                <a:tc>
                  <a:txBody>
                    <a:bodyPr/>
                    <a:lstStyle/>
                    <a:p>
                      <a:pPr algn="ctr"/>
                      <a:endParaRPr lang="en-GB" sz="1600" dirty="0"/>
                    </a:p>
                  </a:txBody>
                  <a:tcPr marL="0" marR="0" marT="0" marB="0" anchor="b"/>
                </a:tc>
                <a:tc>
                  <a:txBody>
                    <a:bodyPr/>
                    <a:lstStyle/>
                    <a:p>
                      <a:pPr algn="ctr"/>
                      <a:endParaRPr lang="en-GB" sz="1600" dirty="0"/>
                    </a:p>
                  </a:txBody>
                  <a:tcPr marL="0" marR="0" marT="0" marB="0" anchor="b"/>
                </a:tc>
                <a:tc>
                  <a:txBody>
                    <a:bodyPr/>
                    <a:lstStyle/>
                    <a:p>
                      <a:pPr algn="ctr" fontAlgn="b"/>
                      <a:r>
                        <a:rPr lang="en-GB" sz="1600" u="none" strike="noStrike" dirty="0">
                          <a:effectLst/>
                        </a:rPr>
                        <a:t>1</a:t>
                      </a:r>
                      <a:endParaRPr lang="en-GB" sz="16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a:effectLst/>
                        </a:rPr>
                        <a:t>1</a:t>
                      </a:r>
                      <a:endParaRPr lang="en-GB" sz="1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600" u="none" strike="noStrike" dirty="0">
                          <a:effectLst/>
                        </a:rPr>
                        <a:t>26</a:t>
                      </a:r>
                      <a:endParaRPr lang="en-GB" sz="16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08296141"/>
                  </a:ext>
                </a:extLst>
              </a:tr>
            </a:tbl>
          </a:graphicData>
        </a:graphic>
      </p:graphicFrame>
      <p:sp>
        <p:nvSpPr>
          <p:cNvPr id="6" name="TextBox 5">
            <a:extLst>
              <a:ext uri="{FF2B5EF4-FFF2-40B4-BE49-F238E27FC236}">
                <a16:creationId xmlns:a16="http://schemas.microsoft.com/office/drawing/2014/main" id="{FDBD1623-8994-2376-DE98-E1A5FACED108}"/>
              </a:ext>
            </a:extLst>
          </p:cNvPr>
          <p:cNvSpPr txBox="1"/>
          <p:nvPr/>
        </p:nvSpPr>
        <p:spPr>
          <a:xfrm>
            <a:off x="8043171" y="1097226"/>
            <a:ext cx="1402670" cy="1846659"/>
          </a:xfrm>
          <a:prstGeom prst="rect">
            <a:avLst/>
          </a:prstGeom>
          <a:noFill/>
        </p:spPr>
        <p:txBody>
          <a:bodyPr wrap="square" rtlCol="0">
            <a:spAutoFit/>
          </a:bodyPr>
          <a:lstStyle/>
          <a:p>
            <a:pPr algn="ctr"/>
            <a:r>
              <a:rPr lang="en-GB" b="1" dirty="0"/>
              <a:t>% 5 rating</a:t>
            </a:r>
          </a:p>
          <a:p>
            <a:pPr algn="ctr"/>
            <a:r>
              <a:rPr lang="en-GB" sz="1600" dirty="0"/>
              <a:t>64%</a:t>
            </a:r>
          </a:p>
          <a:p>
            <a:pPr algn="ctr"/>
            <a:r>
              <a:rPr lang="en-GB" sz="1600" dirty="0"/>
              <a:t>59%</a:t>
            </a:r>
          </a:p>
          <a:p>
            <a:pPr algn="ctr"/>
            <a:r>
              <a:rPr lang="en-GB" sz="1600" dirty="0"/>
              <a:t>100%</a:t>
            </a:r>
          </a:p>
          <a:p>
            <a:pPr algn="ctr"/>
            <a:r>
              <a:rPr lang="en-GB" sz="1600" dirty="0"/>
              <a:t>100%</a:t>
            </a:r>
          </a:p>
          <a:p>
            <a:pPr algn="ctr"/>
            <a:r>
              <a:rPr lang="en-GB" sz="1600" dirty="0"/>
              <a:t>0%</a:t>
            </a:r>
          </a:p>
          <a:p>
            <a:pPr algn="ctr"/>
            <a:r>
              <a:rPr lang="en-GB" sz="1600" dirty="0"/>
              <a:t>93%</a:t>
            </a:r>
            <a:endParaRPr lang="en-GB" dirty="0"/>
          </a:p>
        </p:txBody>
      </p:sp>
      <p:sp>
        <p:nvSpPr>
          <p:cNvPr id="14" name="TextBox 13">
            <a:extLst>
              <a:ext uri="{FF2B5EF4-FFF2-40B4-BE49-F238E27FC236}">
                <a16:creationId xmlns:a16="http://schemas.microsoft.com/office/drawing/2014/main" id="{D47E43F1-35F9-218C-9245-9BB203C70A06}"/>
              </a:ext>
            </a:extLst>
          </p:cNvPr>
          <p:cNvSpPr txBox="1"/>
          <p:nvPr/>
        </p:nvSpPr>
        <p:spPr>
          <a:xfrm>
            <a:off x="275208" y="3071674"/>
            <a:ext cx="11372295" cy="954107"/>
          </a:xfrm>
          <a:prstGeom prst="rect">
            <a:avLst/>
          </a:prstGeom>
          <a:noFill/>
        </p:spPr>
        <p:txBody>
          <a:bodyPr wrap="square" rtlCol="0">
            <a:spAutoFit/>
          </a:bodyPr>
          <a:lstStyle/>
          <a:p>
            <a:r>
              <a:rPr lang="en-GB" sz="1400" dirty="0"/>
              <a:t>The two biggest areas, Hard Services and Soft Services, show marked differences when it comes to 5 Star Ratings.</a:t>
            </a:r>
          </a:p>
          <a:p>
            <a:r>
              <a:rPr lang="en-GB" sz="1400" dirty="0"/>
              <a:t>59% for Hard Service, of which then 16% have got a 1 star view, show how varied the views of commitment from the team.</a:t>
            </a:r>
            <a:br>
              <a:rPr lang="en-GB" sz="1400" dirty="0"/>
            </a:br>
            <a:br>
              <a:rPr lang="en-GB" sz="1400" dirty="0"/>
            </a:br>
            <a:r>
              <a:rPr lang="en-GB" sz="1400" dirty="0"/>
              <a:t>Whereas for Soft Services, it is all above 3 star, of which 93% is 5 star.</a:t>
            </a:r>
          </a:p>
        </p:txBody>
      </p:sp>
      <p:graphicFrame>
        <p:nvGraphicFramePr>
          <p:cNvPr id="54" name="Chart 53">
            <a:extLst>
              <a:ext uri="{FF2B5EF4-FFF2-40B4-BE49-F238E27FC236}">
                <a16:creationId xmlns:a16="http://schemas.microsoft.com/office/drawing/2014/main" id="{4346381F-5756-F5E3-CA39-4BDC3F0AD486}"/>
              </a:ext>
            </a:extLst>
          </p:cNvPr>
          <p:cNvGraphicFramePr>
            <a:graphicFrameLocks/>
          </p:cNvGraphicFramePr>
          <p:nvPr>
            <p:extLst>
              <p:ext uri="{D42A27DB-BD31-4B8C-83A1-F6EECF244321}">
                <p14:modId xmlns:p14="http://schemas.microsoft.com/office/powerpoint/2010/main" val="2000801537"/>
              </p:ext>
            </p:extLst>
          </p:nvPr>
        </p:nvGraphicFramePr>
        <p:xfrm>
          <a:off x="161924" y="4155540"/>
          <a:ext cx="5934075" cy="2702459"/>
        </p:xfrm>
        <a:graphic>
          <a:graphicData uri="http://schemas.openxmlformats.org/drawingml/2006/chart">
            <c:chart xmlns:c="http://schemas.openxmlformats.org/drawingml/2006/chart" xmlns:r="http://schemas.openxmlformats.org/officeDocument/2006/relationships" r:id="rId5"/>
          </a:graphicData>
        </a:graphic>
      </p:graphicFrame>
      <p:sp>
        <p:nvSpPr>
          <p:cNvPr id="55" name="TextBox 54">
            <a:extLst>
              <a:ext uri="{FF2B5EF4-FFF2-40B4-BE49-F238E27FC236}">
                <a16:creationId xmlns:a16="http://schemas.microsoft.com/office/drawing/2014/main" id="{312A9C78-0CFC-79BC-C46F-C613857DF686}"/>
              </a:ext>
            </a:extLst>
          </p:cNvPr>
          <p:cNvSpPr txBox="1"/>
          <p:nvPr/>
        </p:nvSpPr>
        <p:spPr>
          <a:xfrm>
            <a:off x="6645244" y="4399984"/>
            <a:ext cx="5135423" cy="1600438"/>
          </a:xfrm>
          <a:prstGeom prst="rect">
            <a:avLst/>
          </a:prstGeom>
          <a:noFill/>
        </p:spPr>
        <p:txBody>
          <a:bodyPr wrap="square" rtlCol="0">
            <a:spAutoFit/>
          </a:bodyPr>
          <a:lstStyle/>
          <a:p>
            <a:r>
              <a:rPr lang="en-GB" sz="1400" dirty="0"/>
              <a:t>Similarly, we can see how satisfaction levels are, and again, it points to Hard Services being the area that needs improvement.</a:t>
            </a:r>
          </a:p>
          <a:p>
            <a:endParaRPr lang="en-GB" sz="1400" dirty="0"/>
          </a:p>
          <a:p>
            <a:r>
              <a:rPr lang="en-GB" sz="1400" dirty="0"/>
              <a:t>Given that there is some dissatisfaction, if there is an ability to get more data as to personnel/staff working on that particular job, it may inform us that it is a certain person/department that needs improving or that are delivering poor quality work.</a:t>
            </a:r>
          </a:p>
        </p:txBody>
      </p:sp>
    </p:spTree>
    <p:extLst>
      <p:ext uri="{BB962C8B-B14F-4D97-AF65-F5344CB8AC3E}">
        <p14:creationId xmlns:p14="http://schemas.microsoft.com/office/powerpoint/2010/main" val="41581999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35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RIGJvY4c2x3YhwjFwnr6R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PtbHbP_eXuk4DOUiWDYG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bOKGJ6.UatKRBXkeHPDxG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9.yMVEa6nUdX0IeDP8Kj5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xEOb06RuEj6EglPrFqa2p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_ng4RcePnwt7h.DcyeRaX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3QiLFtbems31YWA4aWcoJ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pbXDwgA8fMCC2znml_KPy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iBlizap6cOy1sW.ny53jg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F2p.X8CbaOStBo199lqz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ZsSo.pyoOXoPiVnVkRll2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X_yf2E7_M05O14xNbCVjh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6uZdcSO4DUHbgFyIB7GIy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KK9yXDYVP2Q2xaUj6IZxb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CrCtIATqzx_2ldAQ80n5w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9sa2pnxdPe1hHDB41a5qy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iJJwFwmN4H_D8Ar1zdA2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dX8F4fNUZkCTj4AM6LvWP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ABtTZXlS82o55addO.a9G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95H.A6_wel30xQxhAM.Vc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s4ToNL7vLBs.hPx07HFaC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LaiSkSsQpqWxwsO2aJm00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uPOiZlGB63rnjZPWOLGe8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CSMgvmbs_eaqk4vT9PP5S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555</Words>
  <Application>Microsoft Office PowerPoint</Application>
  <PresentationFormat>Widescreen</PresentationFormat>
  <Paragraphs>100</Paragraphs>
  <Slides>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Office Theme</vt:lpstr>
      <vt:lpstr>think-cell Slide</vt:lpstr>
      <vt:lpstr>Customer Feedback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Feedback Presentation</dc:title>
  <dc:creator>Sherwin Sacki</dc:creator>
  <cp:lastModifiedBy>Sherwin Sacki</cp:lastModifiedBy>
  <cp:revision>1</cp:revision>
  <dcterms:created xsi:type="dcterms:W3CDTF">2024-06-18T11:48:33Z</dcterms:created>
  <dcterms:modified xsi:type="dcterms:W3CDTF">2024-06-19T14:10:45Z</dcterms:modified>
</cp:coreProperties>
</file>